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86" r:id="rId4"/>
    <p:sldId id="258" r:id="rId5"/>
    <p:sldId id="259" r:id="rId6"/>
    <p:sldId id="260" r:id="rId7"/>
    <p:sldId id="261" r:id="rId8"/>
    <p:sldId id="262" r:id="rId9"/>
    <p:sldId id="263" r:id="rId10"/>
    <p:sldId id="264" r:id="rId11"/>
    <p:sldId id="285" r:id="rId12"/>
    <p:sldId id="284" r:id="rId13"/>
    <p:sldId id="265" r:id="rId14"/>
    <p:sldId id="283" r:id="rId15"/>
    <p:sldId id="266" r:id="rId16"/>
    <p:sldId id="267" r:id="rId17"/>
    <p:sldId id="268" r:id="rId18"/>
    <p:sldId id="269" r:id="rId19"/>
    <p:sldId id="270" r:id="rId20"/>
    <p:sldId id="271" r:id="rId21"/>
    <p:sldId id="272" r:id="rId22"/>
    <p:sldId id="273" r:id="rId23"/>
    <p:sldId id="280" r:id="rId24"/>
    <p:sldId id="274" r:id="rId25"/>
    <p:sldId id="275" r:id="rId26"/>
    <p:sldId id="276" r:id="rId27"/>
    <p:sldId id="277" r:id="rId28"/>
    <p:sldId id="278" r:id="rId29"/>
    <p:sldId id="279"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C41F9C-7C44-4C4F-9BA3-86C902AF40F2}" v="3" dt="2026-08-09T18:15:43.6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CO BLUE" userId="bab4b4313695fb6c" providerId="LiveId" clId="{A054A0C2-9F9B-4B0A-BFE0-D67AC8CFF125}"/>
    <pc:docChg chg="addSld modSld">
      <pc:chgData name="ECO BLUE" userId="bab4b4313695fb6c" providerId="LiveId" clId="{A054A0C2-9F9B-4B0A-BFE0-D67AC8CFF125}" dt="2026-08-09T18:17:07.429" v="216" actId="20577"/>
      <pc:docMkLst>
        <pc:docMk/>
      </pc:docMkLst>
      <pc:sldChg chg="modSp mod">
        <pc:chgData name="ECO BLUE" userId="bab4b4313695fb6c" providerId="LiveId" clId="{A054A0C2-9F9B-4B0A-BFE0-D67AC8CFF125}" dt="2026-08-09T18:16:56.053" v="211" actId="1038"/>
        <pc:sldMkLst>
          <pc:docMk/>
          <pc:sldMk cId="0" sldId="256"/>
        </pc:sldMkLst>
        <pc:spChg chg="mod">
          <ac:chgData name="ECO BLUE" userId="bab4b4313695fb6c" providerId="LiveId" clId="{A054A0C2-9F9B-4B0A-BFE0-D67AC8CFF125}" dt="2026-08-09T18:16:56.053" v="211" actId="1038"/>
          <ac:spMkLst>
            <pc:docMk/>
            <pc:sldMk cId="0" sldId="256"/>
            <ac:spMk id="2" creationId="{00000000-0000-0000-0000-000000000000}"/>
          </ac:spMkLst>
        </pc:spChg>
      </pc:sldChg>
      <pc:sldChg chg="modSp mod">
        <pc:chgData name="ECO BLUE" userId="bab4b4313695fb6c" providerId="LiveId" clId="{A054A0C2-9F9B-4B0A-BFE0-D67AC8CFF125}" dt="2026-08-09T18:17:07.429" v="216" actId="20577"/>
        <pc:sldMkLst>
          <pc:docMk/>
          <pc:sldMk cId="0" sldId="257"/>
        </pc:sldMkLst>
        <pc:spChg chg="mod">
          <ac:chgData name="ECO BLUE" userId="bab4b4313695fb6c" providerId="LiveId" clId="{A054A0C2-9F9B-4B0A-BFE0-D67AC8CFF125}" dt="2026-08-09T18:13:30.082" v="130" actId="14100"/>
          <ac:spMkLst>
            <pc:docMk/>
            <pc:sldMk cId="0" sldId="257"/>
            <ac:spMk id="8" creationId="{00000000-0000-0000-0000-000000000000}"/>
          </ac:spMkLst>
        </pc:spChg>
        <pc:spChg chg="mod">
          <ac:chgData name="ECO BLUE" userId="bab4b4313695fb6c" providerId="LiveId" clId="{A054A0C2-9F9B-4B0A-BFE0-D67AC8CFF125}" dt="2026-08-09T18:17:07.429" v="216" actId="20577"/>
          <ac:spMkLst>
            <pc:docMk/>
            <pc:sldMk cId="0" sldId="257"/>
            <ac:spMk id="9" creationId="{00000000-0000-0000-0000-000000000000}"/>
          </ac:spMkLst>
        </pc:spChg>
      </pc:sldChg>
      <pc:sldChg chg="add">
        <pc:chgData name="ECO BLUE" userId="bab4b4313695fb6c" providerId="LiveId" clId="{A054A0C2-9F9B-4B0A-BFE0-D67AC8CFF125}" dt="2026-08-09T18:07:42.593" v="0" actId="2890"/>
        <pc:sldMkLst>
          <pc:docMk/>
          <pc:sldMk cId="2138647165" sldId="2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4A7011-791B-417F-A9A6-D8E1FA103C26}" type="datetimeFigureOut">
              <a:rPr lang="en-IN" smtClean="0"/>
              <a:t>09-08-2026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5C7929-577C-4636-85F1-D76076B9901D}" type="slidenum">
              <a:rPr lang="en-IN" smtClean="0"/>
              <a:t>‹#›</a:t>
            </a:fld>
            <a:endParaRPr lang="en-IN"/>
          </a:p>
        </p:txBody>
      </p:sp>
    </p:spTree>
    <p:extLst>
      <p:ext uri="{BB962C8B-B14F-4D97-AF65-F5344CB8AC3E}">
        <p14:creationId xmlns:p14="http://schemas.microsoft.com/office/powerpoint/2010/main" val="1284867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95C7929-577C-4636-85F1-D76076B9901D}" type="slidenum">
              <a:rPr lang="en-IN" smtClean="0"/>
              <a:t>15</a:t>
            </a:fld>
            <a:endParaRPr lang="en-IN"/>
          </a:p>
        </p:txBody>
      </p:sp>
    </p:spTree>
    <p:extLst>
      <p:ext uri="{BB962C8B-B14F-4D97-AF65-F5344CB8AC3E}">
        <p14:creationId xmlns:p14="http://schemas.microsoft.com/office/powerpoint/2010/main" val="2639548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1104319" y="1941871"/>
            <a:ext cx="10700083" cy="3149580"/>
          </a:xfrm>
          <a:prstGeom prst="rect">
            <a:avLst/>
          </a:prstGeom>
          <a:noFill/>
        </p:spPr>
        <p:txBody>
          <a:bodyPr wrap="square">
            <a:spAutoFit/>
          </a:bodyPr>
          <a:lstStyle/>
          <a:p>
            <a:pPr>
              <a:spcAft>
                <a:spcPts val="400"/>
              </a:spcAft>
            </a:pPr>
            <a:r>
              <a:rPr lang="en-US" sz="4400" b="1" i="0" dirty="0">
                <a:solidFill>
                  <a:srgbClr val="F8FAFC"/>
                </a:solidFill>
                <a:latin typeface="Georgia"/>
              </a:rPr>
              <a:t>       </a:t>
            </a:r>
            <a:r>
              <a:rPr sz="4400" b="1" i="0" dirty="0">
                <a:solidFill>
                  <a:srgbClr val="F8FAFC"/>
                </a:solidFill>
                <a:latin typeface="Georgia"/>
              </a:rPr>
              <a:t>Bike Rental Demand Prediction</a:t>
            </a:r>
          </a:p>
          <a:p>
            <a:pPr>
              <a:spcAft>
                <a:spcPts val="1400"/>
              </a:spcAft>
            </a:pPr>
            <a:r>
              <a:rPr sz="3800" b="1" i="0" dirty="0">
                <a:solidFill>
                  <a:srgbClr val="0D9488"/>
                </a:solidFill>
                <a:latin typeface="Georgia"/>
              </a:rPr>
              <a:t>using Machine Learning</a:t>
            </a:r>
            <a:endParaRPr lang="en-US" sz="3800" b="1" i="0" dirty="0">
              <a:solidFill>
                <a:srgbClr val="0D9488"/>
              </a:solidFill>
              <a:latin typeface="Georgia"/>
            </a:endParaRPr>
          </a:p>
          <a:p>
            <a:pPr>
              <a:spcAft>
                <a:spcPts val="1400"/>
              </a:spcAft>
            </a:pPr>
            <a:endParaRPr sz="3800" b="1" i="0" dirty="0">
              <a:solidFill>
                <a:srgbClr val="0D9488"/>
              </a:solidFill>
              <a:latin typeface="Georgia"/>
            </a:endParaRPr>
          </a:p>
          <a:p>
            <a:pPr>
              <a:spcAft>
                <a:spcPts val="2400"/>
              </a:spcAft>
            </a:pPr>
            <a:r>
              <a:rPr lang="en-US" sz="2000" b="0" i="0" dirty="0">
                <a:solidFill>
                  <a:srgbClr val="F8FAFC"/>
                </a:solidFill>
                <a:latin typeface="Arial"/>
              </a:rPr>
              <a:t>             </a:t>
            </a:r>
            <a:r>
              <a:rPr sz="2000" b="0" i="0" dirty="0">
                <a:solidFill>
                  <a:srgbClr val="F8FAFC"/>
                </a:solidFill>
                <a:latin typeface="Arial"/>
              </a:rPr>
              <a:t>An End-to-End Regression Framework with Real-Time </a:t>
            </a:r>
            <a:r>
              <a:rPr sz="2000" b="0" i="0" dirty="0" err="1">
                <a:solidFill>
                  <a:srgbClr val="F8FAFC"/>
                </a:solidFill>
                <a:latin typeface="Arial"/>
              </a:rPr>
              <a:t>Streamlit</a:t>
            </a:r>
            <a:r>
              <a:rPr sz="2000" b="0" i="0" dirty="0">
                <a:solidFill>
                  <a:srgbClr val="F8FAFC"/>
                </a:solidFill>
                <a:latin typeface="Arial"/>
              </a:rPr>
              <a:t> Deployment</a:t>
            </a:r>
          </a:p>
          <a:p>
            <a:endParaRPr sz="1200" b="1" i="0" dirty="0">
              <a:solidFill>
                <a:srgbClr val="EA580C"/>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5912" cy="400110"/>
          </a:xfrm>
          <a:prstGeom prst="rect">
            <a:avLst/>
          </a:prstGeom>
          <a:noFill/>
        </p:spPr>
        <p:txBody>
          <a:bodyPr wrap="square" lIns="0" tIns="0" rIns="0" bIns="0">
            <a:spAutoFit/>
          </a:bodyPr>
          <a:lstStyle/>
          <a:p>
            <a:r>
              <a:rPr sz="2600" b="1" i="0" dirty="0">
                <a:solidFill>
                  <a:srgbClr val="0F172A"/>
                </a:solidFill>
                <a:latin typeface="Georgia"/>
              </a:rPr>
              <a:t>Problem Statemen</a:t>
            </a:r>
            <a:r>
              <a:rPr lang="en-US" sz="2600" b="1" i="0" dirty="0">
                <a:solidFill>
                  <a:srgbClr val="0F172A"/>
                </a:solidFill>
                <a:latin typeface="Georgia"/>
              </a:rPr>
              <a:t>t</a:t>
            </a:r>
            <a:endParaRPr sz="2600" b="1" i="0" dirty="0">
              <a:solidFill>
                <a:srgbClr val="0F172A"/>
              </a:solidFill>
              <a:latin typeface="Georgia"/>
            </a:endParaRPr>
          </a:p>
        </p:txBody>
      </p:sp>
      <p:sp>
        <p:nvSpPr>
          <p:cNvPr id="3" name="Rectangle 2"/>
          <p:cNvSpPr/>
          <p:nvPr/>
        </p:nvSpPr>
        <p:spPr>
          <a:xfrm>
            <a:off x="731520" y="1051560"/>
            <a:ext cx="10725912" cy="25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0" y="6400800"/>
            <a:ext cx="731520" cy="274320"/>
          </a:xfrm>
          <a:prstGeom prst="rect">
            <a:avLst/>
          </a:prstGeom>
          <a:noFill/>
        </p:spPr>
        <p:txBody>
          <a:bodyPr wrap="square">
            <a:spAutoFit/>
          </a:bodyPr>
          <a:lstStyle/>
          <a:p>
            <a:pPr algn="r"/>
            <a:r>
              <a:rPr sz="1000" b="0" i="0">
                <a:solidFill>
                  <a:srgbClr val="64748B"/>
                </a:solidFill>
                <a:latin typeface="Arial"/>
              </a:rPr>
              <a:t>2</a:t>
            </a:r>
          </a:p>
        </p:txBody>
      </p:sp>
      <p:sp>
        <p:nvSpPr>
          <p:cNvPr id="8" name="Rounded Rectangle 7"/>
          <p:cNvSpPr/>
          <p:nvPr/>
        </p:nvSpPr>
        <p:spPr>
          <a:xfrm>
            <a:off x="1946788" y="1805039"/>
            <a:ext cx="8400370" cy="3785689"/>
          </a:xfrm>
          <a:prstGeom prst="roundRect">
            <a:avLst/>
          </a:prstGeom>
          <a:solidFill>
            <a:srgbClr val="FFF7ED"/>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674372" y="1976556"/>
            <a:ext cx="7570840" cy="3539430"/>
          </a:xfrm>
          <a:prstGeom prst="rect">
            <a:avLst/>
          </a:prstGeom>
          <a:noFill/>
        </p:spPr>
        <p:txBody>
          <a:bodyPr wrap="square">
            <a:spAutoFit/>
          </a:bodyPr>
          <a:lstStyle/>
          <a:p>
            <a:pPr>
              <a:spcAft>
                <a:spcPts val="1200"/>
              </a:spcAft>
            </a:pPr>
            <a:r>
              <a:rPr lang="en-US" sz="1600" b="1" i="0" dirty="0">
                <a:solidFill>
                  <a:srgbClr val="0F172A"/>
                </a:solidFill>
                <a:latin typeface="Arial" panose="020B0604020202020204" pitchFamily="34" charset="0"/>
                <a:cs typeface="Arial" panose="020B0604020202020204" pitchFamily="34" charset="0"/>
              </a:rPr>
              <a:t>Team Mentor : Karthik</a:t>
            </a:r>
          </a:p>
          <a:p>
            <a:pPr>
              <a:spcAft>
                <a:spcPts val="1200"/>
              </a:spcAft>
            </a:pPr>
            <a:r>
              <a:rPr lang="en-US" sz="1600" b="1" dirty="0">
                <a:solidFill>
                  <a:srgbClr val="0F172A"/>
                </a:solidFill>
                <a:latin typeface="Arial" panose="020B0604020202020204" pitchFamily="34" charset="0"/>
                <a:cs typeface="Arial" panose="020B0604020202020204" pitchFamily="34" charset="0"/>
              </a:rPr>
              <a:t>Team Members :    </a:t>
            </a:r>
            <a:r>
              <a:rPr lang="en-IN" sz="1600" dirty="0">
                <a:solidFill>
                  <a:srgbClr val="0F172A"/>
                </a:solidFill>
                <a:latin typeface="Arial" panose="020B0604020202020204" pitchFamily="34" charset="0"/>
                <a:cs typeface="Arial" panose="020B0604020202020204" pitchFamily="34" charset="0"/>
              </a:rPr>
              <a:t>Yalamanchi Banu Sree </a:t>
            </a:r>
            <a:endParaRPr lang="en-US" sz="1600" b="1" dirty="0">
              <a:solidFill>
                <a:srgbClr val="0F172A"/>
              </a:solidFill>
              <a:latin typeface="Arial" panose="020B0604020202020204" pitchFamily="34" charset="0"/>
              <a:cs typeface="Arial" panose="020B0604020202020204" pitchFamily="34" charset="0"/>
            </a:endParaRPr>
          </a:p>
          <a:p>
            <a:pPr>
              <a:spcAft>
                <a:spcPts val="1200"/>
              </a:spcAft>
            </a:pPr>
            <a:r>
              <a:rPr lang="en-US" sz="1600" b="1" dirty="0">
                <a:solidFill>
                  <a:srgbClr val="0F172A"/>
                </a:solidFill>
                <a:latin typeface="Arial" panose="020B0604020202020204" pitchFamily="34" charset="0"/>
                <a:cs typeface="Arial" panose="020B0604020202020204" pitchFamily="34" charset="0"/>
              </a:rPr>
              <a:t>				</a:t>
            </a:r>
            <a:r>
              <a:rPr lang="en-IN" sz="1600" dirty="0">
                <a:solidFill>
                  <a:srgbClr val="0F172A"/>
                </a:solidFill>
                <a:latin typeface="Arial" panose="020B0604020202020204" pitchFamily="34" charset="0"/>
                <a:cs typeface="Arial" panose="020B0604020202020204" pitchFamily="34" charset="0"/>
              </a:rPr>
              <a:t>Pranav Rahul </a:t>
            </a:r>
            <a:r>
              <a:rPr lang="en-IN" sz="1600" dirty="0" err="1">
                <a:solidFill>
                  <a:srgbClr val="0F172A"/>
                </a:solidFill>
                <a:latin typeface="Arial" panose="020B0604020202020204" pitchFamily="34" charset="0"/>
                <a:cs typeface="Arial" panose="020B0604020202020204" pitchFamily="34" charset="0"/>
              </a:rPr>
              <a:t>Gawai</a:t>
            </a:r>
            <a:endParaRPr lang="en-IN" sz="1600" dirty="0">
              <a:solidFill>
                <a:srgbClr val="0F172A"/>
              </a:solidFill>
              <a:latin typeface="Arial" panose="020B0604020202020204" pitchFamily="34" charset="0"/>
              <a:cs typeface="Arial" panose="020B0604020202020204" pitchFamily="34" charset="0"/>
            </a:endParaRPr>
          </a:p>
          <a:p>
            <a:pPr>
              <a:spcAft>
                <a:spcPts val="1200"/>
              </a:spcAft>
            </a:pPr>
            <a:r>
              <a:rPr lang="en-IN" sz="1600" dirty="0">
                <a:solidFill>
                  <a:srgbClr val="0F172A"/>
                </a:solidFill>
                <a:latin typeface="Arial" panose="020B0604020202020204" pitchFamily="34" charset="0"/>
                <a:cs typeface="Arial" panose="020B0604020202020204" pitchFamily="34" charset="0"/>
              </a:rPr>
              <a:t>				Balamurugan Renganathan</a:t>
            </a:r>
          </a:p>
          <a:p>
            <a:pPr>
              <a:spcAft>
                <a:spcPts val="1200"/>
              </a:spcAft>
            </a:pPr>
            <a:r>
              <a:rPr lang="en-IN" sz="1600" dirty="0">
                <a:solidFill>
                  <a:srgbClr val="0F172A"/>
                </a:solidFill>
                <a:latin typeface="Arial" panose="020B0604020202020204" pitchFamily="34" charset="0"/>
                <a:cs typeface="Arial" panose="020B0604020202020204" pitchFamily="34" charset="0"/>
              </a:rPr>
              <a:t>				Bandaru Yaswanth</a:t>
            </a:r>
          </a:p>
          <a:p>
            <a:pPr>
              <a:spcAft>
                <a:spcPts val="1200"/>
              </a:spcAft>
            </a:pPr>
            <a:r>
              <a:rPr lang="en-IN" sz="1600" dirty="0">
                <a:solidFill>
                  <a:srgbClr val="0F172A"/>
                </a:solidFill>
                <a:latin typeface="Arial" panose="020B0604020202020204" pitchFamily="34" charset="0"/>
                <a:cs typeface="Arial" panose="020B0604020202020204" pitchFamily="34" charset="0"/>
              </a:rPr>
              <a:t>				</a:t>
            </a:r>
            <a:r>
              <a:rPr lang="en-IN" sz="1600" dirty="0" err="1">
                <a:solidFill>
                  <a:srgbClr val="0F172A"/>
                </a:solidFill>
                <a:latin typeface="Arial" panose="020B0604020202020204" pitchFamily="34" charset="0"/>
                <a:cs typeface="Arial" panose="020B0604020202020204" pitchFamily="34" charset="0"/>
              </a:rPr>
              <a:t>Chakala</a:t>
            </a:r>
            <a:r>
              <a:rPr lang="en-IN" sz="1600" dirty="0">
                <a:solidFill>
                  <a:srgbClr val="0F172A"/>
                </a:solidFill>
                <a:latin typeface="Arial" panose="020B0604020202020204" pitchFamily="34" charset="0"/>
                <a:cs typeface="Arial" panose="020B0604020202020204" pitchFamily="34" charset="0"/>
              </a:rPr>
              <a:t> Hemanth</a:t>
            </a:r>
          </a:p>
          <a:p>
            <a:pPr>
              <a:spcAft>
                <a:spcPts val="1200"/>
              </a:spcAft>
            </a:pPr>
            <a:r>
              <a:rPr lang="en-IN" sz="1600" dirty="0">
                <a:solidFill>
                  <a:srgbClr val="0F172A"/>
                </a:solidFill>
                <a:latin typeface="Arial" panose="020B0604020202020204" pitchFamily="34" charset="0"/>
                <a:cs typeface="Arial" panose="020B0604020202020204" pitchFamily="34" charset="0"/>
              </a:rPr>
              <a:t>				Bhuvan S </a:t>
            </a:r>
            <a:r>
              <a:rPr lang="en-IN" sz="1600" dirty="0" err="1">
                <a:solidFill>
                  <a:srgbClr val="0F172A"/>
                </a:solidFill>
                <a:latin typeface="Arial" panose="020B0604020202020204" pitchFamily="34" charset="0"/>
                <a:cs typeface="Arial" panose="020B0604020202020204" pitchFamily="34" charset="0"/>
              </a:rPr>
              <a:t>Madihalli</a:t>
            </a:r>
            <a:r>
              <a:rPr lang="en-IN" sz="1600" dirty="0">
                <a:solidFill>
                  <a:srgbClr val="0F172A"/>
                </a:solidFill>
                <a:latin typeface="Arial" panose="020B0604020202020204" pitchFamily="34" charset="0"/>
                <a:cs typeface="Arial" panose="020B0604020202020204" pitchFamily="34" charset="0"/>
              </a:rPr>
              <a:t> </a:t>
            </a:r>
          </a:p>
          <a:p>
            <a:pPr>
              <a:spcAft>
                <a:spcPts val="1200"/>
              </a:spcAft>
            </a:pPr>
            <a:r>
              <a:rPr lang="en-IN" sz="1600" dirty="0">
                <a:solidFill>
                  <a:srgbClr val="0F172A"/>
                </a:solidFill>
                <a:latin typeface="Arial" panose="020B0604020202020204" pitchFamily="34" charset="0"/>
                <a:cs typeface="Arial" panose="020B0604020202020204" pitchFamily="34" charset="0"/>
              </a:rPr>
              <a:t>				</a:t>
            </a:r>
            <a:r>
              <a:rPr lang="en-IN" sz="1600" dirty="0" err="1">
                <a:solidFill>
                  <a:srgbClr val="0F172A"/>
                </a:solidFill>
                <a:latin typeface="Arial" panose="020B0604020202020204" pitchFamily="34" charset="0"/>
                <a:cs typeface="Arial" panose="020B0604020202020204" pitchFamily="34" charset="0"/>
              </a:rPr>
              <a:t>D.Rajeswari</a:t>
            </a:r>
            <a:endParaRPr lang="en-IN" sz="1600" dirty="0">
              <a:solidFill>
                <a:srgbClr val="0F172A"/>
              </a:solidFill>
              <a:latin typeface="Arial" panose="020B0604020202020204" pitchFamily="34" charset="0"/>
              <a:cs typeface="Arial" panose="020B0604020202020204" pitchFamily="34" charset="0"/>
            </a:endParaRPr>
          </a:p>
          <a:p>
            <a:pPr>
              <a:spcAft>
                <a:spcPts val="1200"/>
              </a:spcAft>
            </a:pPr>
            <a:endParaRPr lang="en-US" sz="1600" b="1" dirty="0">
              <a:solidFill>
                <a:srgbClr val="0F172A"/>
              </a:solidFill>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EA30A386-3E2F-7C4B-4799-5D937AE0CCF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0048E97-0FAE-B331-8EC6-6E4F25E3BA46}"/>
              </a:ext>
            </a:extLst>
          </p:cNvPr>
          <p:cNvSpPr txBox="1"/>
          <p:nvPr/>
        </p:nvSpPr>
        <p:spPr>
          <a:xfrm>
            <a:off x="731520" y="365760"/>
            <a:ext cx="10725912" cy="400110"/>
          </a:xfrm>
          <a:prstGeom prst="rect">
            <a:avLst/>
          </a:prstGeom>
          <a:noFill/>
        </p:spPr>
        <p:txBody>
          <a:bodyPr wrap="square" lIns="0" tIns="0" rIns="0" bIns="0">
            <a:spAutoFit/>
          </a:bodyPr>
          <a:lstStyle/>
          <a:p>
            <a:r>
              <a:rPr sz="2600" b="1" i="0" dirty="0">
                <a:solidFill>
                  <a:srgbClr val="0F172A"/>
                </a:solidFill>
                <a:latin typeface="Georgia"/>
              </a:rPr>
              <a:t>Problem Statemen</a:t>
            </a:r>
            <a:r>
              <a:rPr lang="en-US" sz="2600" b="1" i="0" dirty="0">
                <a:solidFill>
                  <a:srgbClr val="0F172A"/>
                </a:solidFill>
                <a:latin typeface="Georgia"/>
              </a:rPr>
              <a:t>t</a:t>
            </a:r>
            <a:endParaRPr sz="2600" b="1" i="0" dirty="0">
              <a:solidFill>
                <a:srgbClr val="0F172A"/>
              </a:solidFill>
              <a:latin typeface="Georgia"/>
            </a:endParaRPr>
          </a:p>
        </p:txBody>
      </p:sp>
      <p:sp>
        <p:nvSpPr>
          <p:cNvPr id="3" name="Rectangle 2">
            <a:extLst>
              <a:ext uri="{FF2B5EF4-FFF2-40B4-BE49-F238E27FC236}">
                <a16:creationId xmlns:a16="http://schemas.microsoft.com/office/drawing/2014/main" id="{883C9697-5F1B-7C22-6A16-044C885D3FC8}"/>
              </a:ext>
            </a:extLst>
          </p:cNvPr>
          <p:cNvSpPr/>
          <p:nvPr/>
        </p:nvSpPr>
        <p:spPr>
          <a:xfrm>
            <a:off x="731520" y="1051560"/>
            <a:ext cx="10725912" cy="25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B4AC4026-C9FB-5C0D-354D-FDD0430BC2FC}"/>
              </a:ext>
            </a:extLst>
          </p:cNvPr>
          <p:cNvSpPr txBox="1"/>
          <p:nvPr/>
        </p:nvSpPr>
        <p:spPr>
          <a:xfrm>
            <a:off x="10972800" y="6400800"/>
            <a:ext cx="731520" cy="274320"/>
          </a:xfrm>
          <a:prstGeom prst="rect">
            <a:avLst/>
          </a:prstGeom>
          <a:noFill/>
        </p:spPr>
        <p:txBody>
          <a:bodyPr wrap="square">
            <a:spAutoFit/>
          </a:bodyPr>
          <a:lstStyle/>
          <a:p>
            <a:pPr algn="r"/>
            <a:r>
              <a:rPr sz="1000" b="0" i="0">
                <a:solidFill>
                  <a:srgbClr val="64748B"/>
                </a:solidFill>
                <a:latin typeface="Arial"/>
              </a:rPr>
              <a:t>2</a:t>
            </a:r>
          </a:p>
        </p:txBody>
      </p:sp>
      <p:sp>
        <p:nvSpPr>
          <p:cNvPr id="8" name="Rounded Rectangle 7">
            <a:extLst>
              <a:ext uri="{FF2B5EF4-FFF2-40B4-BE49-F238E27FC236}">
                <a16:creationId xmlns:a16="http://schemas.microsoft.com/office/drawing/2014/main" id="{BDFCB61B-C233-A3FB-E0AF-A1D605198E6A}"/>
              </a:ext>
            </a:extLst>
          </p:cNvPr>
          <p:cNvSpPr/>
          <p:nvPr/>
        </p:nvSpPr>
        <p:spPr>
          <a:xfrm>
            <a:off x="2241754" y="2320684"/>
            <a:ext cx="8105403" cy="3270044"/>
          </a:xfrm>
          <a:prstGeom prst="roundRect">
            <a:avLst/>
          </a:prstGeom>
          <a:solidFill>
            <a:srgbClr val="FFF7ED"/>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6881ED48-B201-E51F-FAE5-1148A4224A2A}"/>
              </a:ext>
            </a:extLst>
          </p:cNvPr>
          <p:cNvSpPr txBox="1"/>
          <p:nvPr/>
        </p:nvSpPr>
        <p:spPr>
          <a:xfrm>
            <a:off x="2657297" y="2978939"/>
            <a:ext cx="7479762" cy="1815882"/>
          </a:xfrm>
          <a:prstGeom prst="rect">
            <a:avLst/>
          </a:prstGeom>
          <a:noFill/>
        </p:spPr>
        <p:txBody>
          <a:bodyPr wrap="square">
            <a:spAutoFit/>
          </a:bodyPr>
          <a:lstStyle/>
          <a:p>
            <a:pPr>
              <a:spcAft>
                <a:spcPts val="1200"/>
              </a:spcAft>
            </a:pPr>
            <a:r>
              <a:rPr lang="en-US" sz="1600" dirty="0">
                <a:latin typeface="Arial" panose="020B0604020202020204" pitchFamily="34" charset="0"/>
                <a:cs typeface="Arial" panose="020B0604020202020204" pitchFamily="34" charset="0"/>
              </a:rPr>
              <a:t>The business problem is to ensure a stable supply of rental bikes in urban cities by predicting the demand for bikes. By providing a stable supply of rental bikes, the system can enhance mobility comfort for the public and reduce waiting time, leading to greater customer satisfaction and accurately predicting bike demand can help bike sharing companies optimize operations including bike availability, pricing, strategies, and marketing efforts by considering demand Based on various external factors such as weather, season, holiday etc..,</a:t>
            </a:r>
            <a:endParaRPr sz="1600" b="0" i="0" dirty="0">
              <a:solidFill>
                <a:srgbClr val="0F172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386471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5912" cy="731520"/>
          </a:xfrm>
          <a:prstGeom prst="rect">
            <a:avLst/>
          </a:prstGeom>
          <a:noFill/>
        </p:spPr>
        <p:txBody>
          <a:bodyPr wrap="square" lIns="0" tIns="0" rIns="0" bIns="0">
            <a:spAutoFit/>
          </a:bodyPr>
          <a:lstStyle/>
          <a:p>
            <a:r>
              <a:rPr sz="2600" b="1" i="0">
                <a:solidFill>
                  <a:srgbClr val="0F172A"/>
                </a:solidFill>
                <a:latin typeface="Georgia"/>
              </a:rPr>
              <a:t>Project Objectives: Core Framework Requirements</a:t>
            </a:r>
          </a:p>
        </p:txBody>
      </p:sp>
      <p:sp>
        <p:nvSpPr>
          <p:cNvPr id="3" name="Rectangle 2"/>
          <p:cNvSpPr/>
          <p:nvPr/>
        </p:nvSpPr>
        <p:spPr>
          <a:xfrm>
            <a:off x="731520" y="1051560"/>
            <a:ext cx="10725912" cy="25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0" y="6400800"/>
            <a:ext cx="731520" cy="274320"/>
          </a:xfrm>
          <a:prstGeom prst="rect">
            <a:avLst/>
          </a:prstGeom>
          <a:noFill/>
        </p:spPr>
        <p:txBody>
          <a:bodyPr wrap="square">
            <a:spAutoFit/>
          </a:bodyPr>
          <a:lstStyle/>
          <a:p>
            <a:pPr algn="r"/>
            <a:r>
              <a:rPr sz="1000" b="0" i="0">
                <a:solidFill>
                  <a:srgbClr val="64748B"/>
                </a:solidFill>
                <a:latin typeface="Arial"/>
              </a:rPr>
              <a:t>3</a:t>
            </a:r>
          </a:p>
        </p:txBody>
      </p:sp>
      <p:sp>
        <p:nvSpPr>
          <p:cNvPr id="5" name="TextBox 4"/>
          <p:cNvSpPr txBox="1"/>
          <p:nvPr/>
        </p:nvSpPr>
        <p:spPr>
          <a:xfrm>
            <a:off x="731520" y="6400800"/>
            <a:ext cx="4572000" cy="274320"/>
          </a:xfrm>
          <a:prstGeom prst="rect">
            <a:avLst/>
          </a:prstGeom>
          <a:noFill/>
        </p:spPr>
        <p:txBody>
          <a:bodyPr wrap="none">
            <a:spAutoFit/>
          </a:bodyPr>
          <a:lstStyle/>
          <a:p>
            <a:r>
              <a:rPr sz="1000" b="0" i="0">
                <a:solidFill>
                  <a:srgbClr val="64748B"/>
                </a:solidFill>
                <a:latin typeface="Arial"/>
              </a:rPr>
              <a:t>Bike Rental Demand Prediction | ML Project Presentation</a:t>
            </a:r>
          </a:p>
        </p:txBody>
      </p:sp>
      <p:sp>
        <p:nvSpPr>
          <p:cNvPr id="6" name="Rounded Rectangle 5"/>
          <p:cNvSpPr/>
          <p:nvPr/>
        </p:nvSpPr>
        <p:spPr>
          <a:xfrm>
            <a:off x="731520" y="1645920"/>
            <a:ext cx="3328416" cy="4114800"/>
          </a:xfrm>
          <a:prstGeom prst="roundRect">
            <a:avLst/>
          </a:prstGeom>
          <a:solidFill>
            <a:srgbClr val="F0FDFA"/>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828800"/>
            <a:ext cx="2962656" cy="3298339"/>
          </a:xfrm>
          <a:prstGeom prst="rect">
            <a:avLst/>
          </a:prstGeom>
          <a:noFill/>
        </p:spPr>
        <p:txBody>
          <a:bodyPr wrap="square">
            <a:spAutoFit/>
          </a:bodyPr>
          <a:lstStyle/>
          <a:p>
            <a:pPr>
              <a:spcAft>
                <a:spcPts val="1400"/>
              </a:spcAft>
            </a:pPr>
            <a:r>
              <a:rPr sz="2000" b="1" i="0" dirty="0">
                <a:solidFill>
                  <a:srgbClr val="0D9488"/>
                </a:solidFill>
                <a:latin typeface="Georgia"/>
              </a:rPr>
              <a:t>01. Predictive Excellence</a:t>
            </a:r>
          </a:p>
          <a:p>
            <a:pPr>
              <a:spcAft>
                <a:spcPts val="1000"/>
              </a:spcAft>
            </a:pPr>
            <a:r>
              <a:rPr sz="1400" b="1" i="0" dirty="0">
                <a:solidFill>
                  <a:srgbClr val="0F172A"/>
                </a:solidFill>
                <a:latin typeface="Arial"/>
              </a:rPr>
              <a:t>High-Accuracy Forecasting:</a:t>
            </a:r>
            <a:r>
              <a:rPr sz="1400" b="0" i="0" dirty="0">
                <a:solidFill>
                  <a:srgbClr val="0F172A"/>
                </a:solidFill>
                <a:latin typeface="Arial"/>
              </a:rPr>
              <a:t> Develop a regression framework to accurately predict the hourly total bike rental count ('</a:t>
            </a:r>
            <a:r>
              <a:rPr sz="1400" b="0" i="0" dirty="0" err="1">
                <a:solidFill>
                  <a:srgbClr val="0F172A"/>
                </a:solidFill>
                <a:latin typeface="Arial"/>
              </a:rPr>
              <a:t>cnt</a:t>
            </a:r>
            <a:r>
              <a:rPr sz="1400" b="0" i="0" dirty="0">
                <a:solidFill>
                  <a:srgbClr val="0F172A"/>
                </a:solidFill>
                <a:latin typeface="Arial"/>
              </a:rPr>
              <a:t>').</a:t>
            </a:r>
          </a:p>
          <a:p>
            <a:pPr>
              <a:spcAft>
                <a:spcPts val="1000"/>
              </a:spcAft>
            </a:pPr>
            <a:r>
              <a:rPr sz="1400" b="1" i="0" dirty="0">
                <a:solidFill>
                  <a:srgbClr val="0F172A"/>
                </a:solidFill>
                <a:latin typeface="Arial"/>
              </a:rPr>
              <a:t>Variance Optimization:</a:t>
            </a:r>
            <a:r>
              <a:rPr sz="1400" b="0" i="0" dirty="0">
                <a:solidFill>
                  <a:srgbClr val="0F172A"/>
                </a:solidFill>
                <a:latin typeface="Arial"/>
              </a:rPr>
              <a:t> Resolve non-linear patterns to minimize prediction error residuals.</a:t>
            </a:r>
          </a:p>
          <a:p>
            <a:pPr>
              <a:spcAft>
                <a:spcPts val="1000"/>
              </a:spcAft>
            </a:pPr>
            <a:r>
              <a:rPr sz="1400" b="1" i="0" dirty="0">
                <a:solidFill>
                  <a:srgbClr val="0F172A"/>
                </a:solidFill>
                <a:latin typeface="Arial"/>
              </a:rPr>
              <a:t>Cross-Validation:</a:t>
            </a:r>
            <a:r>
              <a:rPr sz="1400" b="0" i="0" dirty="0">
                <a:solidFill>
                  <a:srgbClr val="0F172A"/>
                </a:solidFill>
                <a:latin typeface="Arial"/>
              </a:rPr>
              <a:t> Validate robust generalizability across diverse temporal periods.</a:t>
            </a:r>
          </a:p>
        </p:txBody>
      </p:sp>
      <p:sp>
        <p:nvSpPr>
          <p:cNvPr id="8" name="Rounded Rectangle 7"/>
          <p:cNvSpPr/>
          <p:nvPr/>
        </p:nvSpPr>
        <p:spPr>
          <a:xfrm>
            <a:off x="4425696" y="1645920"/>
            <a:ext cx="3328416"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08576" y="1828800"/>
            <a:ext cx="2962656" cy="3298339"/>
          </a:xfrm>
          <a:prstGeom prst="rect">
            <a:avLst/>
          </a:prstGeom>
          <a:noFill/>
        </p:spPr>
        <p:txBody>
          <a:bodyPr wrap="square">
            <a:spAutoFit/>
          </a:bodyPr>
          <a:lstStyle/>
          <a:p>
            <a:pPr>
              <a:spcAft>
                <a:spcPts val="1400"/>
              </a:spcAft>
            </a:pPr>
            <a:r>
              <a:rPr sz="2000" b="1" i="0" dirty="0">
                <a:solidFill>
                  <a:schemeClr val="bg2">
                    <a:lumMod val="25000"/>
                  </a:schemeClr>
                </a:solidFill>
                <a:latin typeface="Georgia"/>
              </a:rPr>
              <a:t>02. Clean Data Pipelines</a:t>
            </a:r>
          </a:p>
          <a:p>
            <a:pPr>
              <a:spcAft>
                <a:spcPts val="1000"/>
              </a:spcAft>
            </a:pPr>
            <a:r>
              <a:rPr sz="1400" b="1" i="0" dirty="0">
                <a:solidFill>
                  <a:srgbClr val="0F172A"/>
                </a:solidFill>
                <a:latin typeface="Arial"/>
              </a:rPr>
              <a:t>Integrity Safeguards:</a:t>
            </a:r>
            <a:r>
              <a:rPr sz="1400" b="0" i="0" dirty="0">
                <a:solidFill>
                  <a:srgbClr val="0F172A"/>
                </a:solidFill>
                <a:latin typeface="Arial"/>
              </a:rPr>
              <a:t> Establish strict data cleaning to handle missing elements, convert non-standard symbols, and reconcile type errors.</a:t>
            </a:r>
          </a:p>
          <a:p>
            <a:pPr>
              <a:spcAft>
                <a:spcPts val="1000"/>
              </a:spcAft>
            </a:pPr>
            <a:r>
              <a:rPr sz="1400" b="1" i="0" dirty="0">
                <a:solidFill>
                  <a:srgbClr val="0F172A"/>
                </a:solidFill>
                <a:latin typeface="Arial"/>
              </a:rPr>
              <a:t>Typo Correction:</a:t>
            </a:r>
            <a:r>
              <a:rPr sz="1400" b="0" i="0" dirty="0">
                <a:solidFill>
                  <a:srgbClr val="0F172A"/>
                </a:solidFill>
                <a:latin typeface="Arial"/>
              </a:rPr>
              <a:t> Standardize raw spelling errors.</a:t>
            </a:r>
          </a:p>
          <a:p>
            <a:pPr>
              <a:spcAft>
                <a:spcPts val="1000"/>
              </a:spcAft>
            </a:pPr>
            <a:r>
              <a:rPr sz="1400" b="1" i="0" dirty="0">
                <a:solidFill>
                  <a:srgbClr val="0F172A"/>
                </a:solidFill>
                <a:latin typeface="Arial"/>
              </a:rPr>
              <a:t>Multicollinearity Controls:</a:t>
            </a:r>
            <a:r>
              <a:rPr sz="1400" b="0" i="0" dirty="0">
                <a:solidFill>
                  <a:srgbClr val="0F172A"/>
                </a:solidFill>
                <a:latin typeface="Arial"/>
              </a:rPr>
              <a:t> Eliminate feature redundancy to prevent model degradation.</a:t>
            </a:r>
          </a:p>
        </p:txBody>
      </p:sp>
      <p:sp>
        <p:nvSpPr>
          <p:cNvPr id="10" name="Rounded Rectangle 9"/>
          <p:cNvSpPr/>
          <p:nvPr/>
        </p:nvSpPr>
        <p:spPr>
          <a:xfrm>
            <a:off x="8119872" y="1645920"/>
            <a:ext cx="3328416" cy="4114800"/>
          </a:xfrm>
          <a:prstGeom prst="roundRect">
            <a:avLst/>
          </a:prstGeom>
          <a:solidFill>
            <a:srgbClr val="FFF7ED"/>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02752" y="1828800"/>
            <a:ext cx="2962656" cy="3513782"/>
          </a:xfrm>
          <a:prstGeom prst="rect">
            <a:avLst/>
          </a:prstGeom>
          <a:noFill/>
        </p:spPr>
        <p:txBody>
          <a:bodyPr wrap="square">
            <a:spAutoFit/>
          </a:bodyPr>
          <a:lstStyle/>
          <a:p>
            <a:pPr>
              <a:spcAft>
                <a:spcPts val="1400"/>
              </a:spcAft>
            </a:pPr>
            <a:r>
              <a:rPr sz="2000" b="1" i="0" dirty="0">
                <a:solidFill>
                  <a:srgbClr val="EA580C"/>
                </a:solidFill>
                <a:latin typeface="Georgia"/>
              </a:rPr>
              <a:t>03. Operational Tooling</a:t>
            </a:r>
          </a:p>
          <a:p>
            <a:pPr>
              <a:spcAft>
                <a:spcPts val="1000"/>
              </a:spcAft>
            </a:pPr>
            <a:r>
              <a:rPr sz="1400" b="1" i="0" dirty="0">
                <a:solidFill>
                  <a:srgbClr val="0F172A"/>
                </a:solidFill>
                <a:latin typeface="Arial"/>
              </a:rPr>
              <a:t>Interactive Dashboard:</a:t>
            </a:r>
            <a:r>
              <a:rPr sz="1400" b="0" i="0" dirty="0">
                <a:solidFill>
                  <a:srgbClr val="0F172A"/>
                </a:solidFill>
                <a:latin typeface="Arial"/>
              </a:rPr>
              <a:t> Deliver an intuitive, lightweight </a:t>
            </a:r>
            <a:r>
              <a:rPr sz="1400" b="0" i="0" dirty="0" err="1">
                <a:solidFill>
                  <a:srgbClr val="0F172A"/>
                </a:solidFill>
                <a:latin typeface="Arial"/>
              </a:rPr>
              <a:t>Streamlit</a:t>
            </a:r>
            <a:r>
              <a:rPr sz="1400" b="0" i="0" dirty="0">
                <a:solidFill>
                  <a:srgbClr val="0F172A"/>
                </a:solidFill>
                <a:latin typeface="Arial"/>
              </a:rPr>
              <a:t> dashboard for non-technical dispatchers.</a:t>
            </a:r>
          </a:p>
          <a:p>
            <a:pPr>
              <a:spcAft>
                <a:spcPts val="1000"/>
              </a:spcAft>
            </a:pPr>
            <a:r>
              <a:rPr sz="1400" b="1" i="0" dirty="0">
                <a:solidFill>
                  <a:srgbClr val="0F172A"/>
                </a:solidFill>
                <a:latin typeface="Arial"/>
              </a:rPr>
              <a:t>Real-time Inference:</a:t>
            </a:r>
            <a:r>
              <a:rPr sz="1400" b="0" i="0" dirty="0">
                <a:solidFill>
                  <a:srgbClr val="0F172A"/>
                </a:solidFill>
                <a:latin typeface="Arial"/>
              </a:rPr>
              <a:t> Enable operators to slide parameters and instantly retrieve demand predictions.</a:t>
            </a:r>
          </a:p>
          <a:p>
            <a:pPr>
              <a:spcAft>
                <a:spcPts val="1000"/>
              </a:spcAft>
            </a:pPr>
            <a:r>
              <a:rPr sz="1400" b="1" i="0" dirty="0">
                <a:solidFill>
                  <a:srgbClr val="0F172A"/>
                </a:solidFill>
                <a:latin typeface="Arial"/>
              </a:rPr>
              <a:t>Low Latency Deployment:</a:t>
            </a:r>
            <a:r>
              <a:rPr sz="1400" b="0" i="0" dirty="0">
                <a:solidFill>
                  <a:srgbClr val="0F172A"/>
                </a:solidFill>
                <a:latin typeface="Arial"/>
              </a:rPr>
              <a:t> Model serialization to ensure instantaneous predictions.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5912" cy="731520"/>
          </a:xfrm>
          <a:prstGeom prst="rect">
            <a:avLst/>
          </a:prstGeom>
          <a:noFill/>
        </p:spPr>
        <p:txBody>
          <a:bodyPr wrap="square" lIns="0" tIns="0" rIns="0" bIns="0">
            <a:spAutoFit/>
          </a:bodyPr>
          <a:lstStyle/>
          <a:p>
            <a:r>
              <a:rPr sz="2600" b="1" i="0">
                <a:solidFill>
                  <a:srgbClr val="0F172A"/>
                </a:solidFill>
                <a:latin typeface="Georgia"/>
              </a:rPr>
              <a:t>Dataset Overview: 17,379 Hourly Transit Records</a:t>
            </a:r>
          </a:p>
        </p:txBody>
      </p:sp>
      <p:sp>
        <p:nvSpPr>
          <p:cNvPr id="3" name="Rectangle 2"/>
          <p:cNvSpPr/>
          <p:nvPr/>
        </p:nvSpPr>
        <p:spPr>
          <a:xfrm>
            <a:off x="731520" y="1051560"/>
            <a:ext cx="10725912" cy="25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0" y="6400800"/>
            <a:ext cx="731520" cy="274320"/>
          </a:xfrm>
          <a:prstGeom prst="rect">
            <a:avLst/>
          </a:prstGeom>
          <a:noFill/>
        </p:spPr>
        <p:txBody>
          <a:bodyPr wrap="square">
            <a:spAutoFit/>
          </a:bodyPr>
          <a:lstStyle/>
          <a:p>
            <a:pPr algn="r"/>
            <a:r>
              <a:rPr sz="1000" b="0" i="0">
                <a:solidFill>
                  <a:srgbClr val="64748B"/>
                </a:solidFill>
                <a:latin typeface="Arial"/>
              </a:rPr>
              <a:t>4</a:t>
            </a:r>
          </a:p>
        </p:txBody>
      </p:sp>
      <p:sp>
        <p:nvSpPr>
          <p:cNvPr id="5" name="TextBox 4"/>
          <p:cNvSpPr txBox="1"/>
          <p:nvPr/>
        </p:nvSpPr>
        <p:spPr>
          <a:xfrm>
            <a:off x="731520" y="6400800"/>
            <a:ext cx="255198" cy="246221"/>
          </a:xfrm>
          <a:prstGeom prst="rect">
            <a:avLst/>
          </a:prstGeom>
          <a:noFill/>
        </p:spPr>
        <p:txBody>
          <a:bodyPr wrap="none">
            <a:spAutoFit/>
          </a:bodyPr>
          <a:lstStyle/>
          <a:p>
            <a:r>
              <a:rPr sz="1000" b="0" i="0" dirty="0">
                <a:solidFill>
                  <a:srgbClr val="64748B"/>
                </a:solidFill>
                <a:latin typeface="Arial"/>
              </a:rPr>
              <a:t>n</a:t>
            </a:r>
          </a:p>
        </p:txBody>
      </p:sp>
      <p:graphicFrame>
        <p:nvGraphicFramePr>
          <p:cNvPr id="6" name="Table 5"/>
          <p:cNvGraphicFramePr>
            <a:graphicFrameLocks noGrp="1"/>
          </p:cNvGraphicFramePr>
          <p:nvPr/>
        </p:nvGraphicFramePr>
        <p:xfrm>
          <a:off x="731520" y="1645920"/>
          <a:ext cx="6217920" cy="402336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804672">
                <a:tc>
                  <a:txBody>
                    <a:bodyPr/>
                    <a:lstStyle/>
                    <a:p>
                      <a:r>
                        <a:rPr sz="1300" b="1" i="0">
                          <a:solidFill>
                            <a:srgbClr val="F8FAFC"/>
                          </a:solidFill>
                          <a:latin typeface="Arial"/>
                        </a:rPr>
                        <a:t>Category</a:t>
                      </a:r>
                    </a:p>
                  </a:txBody>
                  <a:tcPr>
                    <a:solidFill>
                      <a:srgbClr val="0F172A"/>
                    </a:solidFill>
                  </a:tcPr>
                </a:tc>
                <a:tc>
                  <a:txBody>
                    <a:bodyPr/>
                    <a:lstStyle/>
                    <a:p>
                      <a:r>
                        <a:rPr sz="1300" b="1" i="0">
                          <a:solidFill>
                            <a:srgbClr val="F8FAFC"/>
                          </a:solidFill>
                          <a:latin typeface="Arial"/>
                        </a:rPr>
                        <a:t>Variables</a:t>
                      </a:r>
                    </a:p>
                  </a:txBody>
                  <a:tcPr>
                    <a:solidFill>
                      <a:srgbClr val="0F172A"/>
                    </a:solidFill>
                  </a:tcPr>
                </a:tc>
                <a:tc>
                  <a:txBody>
                    <a:bodyPr/>
                    <a:lstStyle/>
                    <a:p>
                      <a:r>
                        <a:rPr sz="1300" b="1" i="0">
                          <a:solidFill>
                            <a:srgbClr val="F8FAFC"/>
                          </a:solidFill>
                          <a:latin typeface="Arial"/>
                        </a:rPr>
                        <a:t>Scope / Details</a:t>
                      </a:r>
                    </a:p>
                  </a:txBody>
                  <a:tcPr>
                    <a:solidFill>
                      <a:srgbClr val="0F172A"/>
                    </a:solidFill>
                  </a:tcPr>
                </a:tc>
                <a:extLst>
                  <a:ext uri="{0D108BD9-81ED-4DB2-BD59-A6C34878D82A}">
                    <a16:rowId xmlns:a16="http://schemas.microsoft.com/office/drawing/2014/main" val="10000"/>
                  </a:ext>
                </a:extLst>
              </a:tr>
              <a:tr h="804672">
                <a:tc>
                  <a:txBody>
                    <a:bodyPr/>
                    <a:lstStyle/>
                    <a:p>
                      <a:pPr algn="l"/>
                      <a:r>
                        <a:rPr sz="1100" b="1" i="0">
                          <a:solidFill>
                            <a:srgbClr val="0F172A"/>
                          </a:solidFill>
                          <a:latin typeface="Arial"/>
                        </a:rPr>
                        <a:t>Metadata</a:t>
                      </a:r>
                    </a:p>
                  </a:txBody>
                  <a:tcPr>
                    <a:solidFill>
                      <a:srgbClr val="FFFFFF"/>
                    </a:solidFill>
                  </a:tcPr>
                </a:tc>
                <a:tc>
                  <a:txBody>
                    <a:bodyPr/>
                    <a:lstStyle/>
                    <a:p>
                      <a:pPr algn="l"/>
                      <a:r>
                        <a:rPr sz="1100" b="1" i="0">
                          <a:solidFill>
                            <a:srgbClr val="0F172A"/>
                          </a:solidFill>
                          <a:latin typeface="Arial"/>
                        </a:rPr>
                        <a:t>instant, dteday</a:t>
                      </a:r>
                    </a:p>
                  </a:txBody>
                  <a:tcPr>
                    <a:solidFill>
                      <a:srgbClr val="FFFFFF"/>
                    </a:solidFill>
                  </a:tcPr>
                </a:tc>
                <a:tc>
                  <a:txBody>
                    <a:bodyPr/>
                    <a:lstStyle/>
                    <a:p>
                      <a:pPr algn="l"/>
                      <a:r>
                        <a:rPr sz="1100" b="0" i="0">
                          <a:solidFill>
                            <a:srgbClr val="0F172A"/>
                          </a:solidFill>
                          <a:latin typeface="Arial"/>
                        </a:rPr>
                        <a:t>Unique sequence indexes and date tracking.</a:t>
                      </a:r>
                    </a:p>
                  </a:txBody>
                  <a:tcPr>
                    <a:solidFill>
                      <a:srgbClr val="FFFFFF"/>
                    </a:solidFill>
                  </a:tcPr>
                </a:tc>
                <a:extLst>
                  <a:ext uri="{0D108BD9-81ED-4DB2-BD59-A6C34878D82A}">
                    <a16:rowId xmlns:a16="http://schemas.microsoft.com/office/drawing/2014/main" val="10001"/>
                  </a:ext>
                </a:extLst>
              </a:tr>
              <a:tr h="804672">
                <a:tc>
                  <a:txBody>
                    <a:bodyPr/>
                    <a:lstStyle/>
                    <a:p>
                      <a:pPr algn="l"/>
                      <a:r>
                        <a:rPr sz="1100" b="1" i="0">
                          <a:solidFill>
                            <a:srgbClr val="0F172A"/>
                          </a:solidFill>
                          <a:latin typeface="Arial"/>
                        </a:rPr>
                        <a:t>Temporal (Discrete)</a:t>
                      </a:r>
                    </a:p>
                  </a:txBody>
                  <a:tcPr>
                    <a:solidFill>
                      <a:srgbClr val="F1F5F9"/>
                    </a:solidFill>
                  </a:tcPr>
                </a:tc>
                <a:tc>
                  <a:txBody>
                    <a:bodyPr/>
                    <a:lstStyle/>
                    <a:p>
                      <a:pPr algn="l"/>
                      <a:r>
                        <a:rPr sz="1100" b="1" i="0">
                          <a:solidFill>
                            <a:srgbClr val="0F172A"/>
                          </a:solidFill>
                          <a:latin typeface="Arial"/>
                        </a:rPr>
                        <a:t>yr, mnth, hr, weekday, holiday, workingday</a:t>
                      </a:r>
                    </a:p>
                  </a:txBody>
                  <a:tcPr>
                    <a:solidFill>
                      <a:srgbClr val="F1F5F9"/>
                    </a:solidFill>
                  </a:tcPr>
                </a:tc>
                <a:tc>
                  <a:txBody>
                    <a:bodyPr/>
                    <a:lstStyle/>
                    <a:p>
                      <a:pPr algn="l"/>
                      <a:r>
                        <a:rPr sz="1100" b="0" i="0">
                          <a:solidFill>
                            <a:srgbClr val="0F172A"/>
                          </a:solidFill>
                          <a:latin typeface="Arial"/>
                        </a:rPr>
                        <a:t>Calendar dimensions to isolate commuter vs recreational patterns.</a:t>
                      </a:r>
                    </a:p>
                  </a:txBody>
                  <a:tcPr>
                    <a:solidFill>
                      <a:srgbClr val="F1F5F9"/>
                    </a:solidFill>
                  </a:tcPr>
                </a:tc>
                <a:extLst>
                  <a:ext uri="{0D108BD9-81ED-4DB2-BD59-A6C34878D82A}">
                    <a16:rowId xmlns:a16="http://schemas.microsoft.com/office/drawing/2014/main" val="10002"/>
                  </a:ext>
                </a:extLst>
              </a:tr>
              <a:tr h="804672">
                <a:tc>
                  <a:txBody>
                    <a:bodyPr/>
                    <a:lstStyle/>
                    <a:p>
                      <a:pPr algn="l"/>
                      <a:r>
                        <a:rPr sz="1100" b="1" i="0">
                          <a:solidFill>
                            <a:srgbClr val="0F172A"/>
                          </a:solidFill>
                          <a:latin typeface="Arial"/>
                        </a:rPr>
                        <a:t>Environmental</a:t>
                      </a:r>
                    </a:p>
                  </a:txBody>
                  <a:tcPr>
                    <a:solidFill>
                      <a:srgbClr val="FFFFFF"/>
                    </a:solidFill>
                  </a:tcPr>
                </a:tc>
                <a:tc>
                  <a:txBody>
                    <a:bodyPr/>
                    <a:lstStyle/>
                    <a:p>
                      <a:pPr algn="l"/>
                      <a:r>
                        <a:rPr sz="1100" b="1" i="0">
                          <a:solidFill>
                            <a:srgbClr val="0F172A"/>
                          </a:solidFill>
                          <a:latin typeface="Arial"/>
                        </a:rPr>
                        <a:t>temp, atemp, hum, windspeed, weathersit, season</a:t>
                      </a:r>
                    </a:p>
                  </a:txBody>
                  <a:tcPr>
                    <a:solidFill>
                      <a:srgbClr val="FFFFFF"/>
                    </a:solidFill>
                  </a:tcPr>
                </a:tc>
                <a:tc>
                  <a:txBody>
                    <a:bodyPr/>
                    <a:lstStyle/>
                    <a:p>
                      <a:pPr algn="l"/>
                      <a:r>
                        <a:rPr sz="1100" b="0" i="0">
                          <a:solidFill>
                            <a:srgbClr val="0F172A"/>
                          </a:solidFill>
                          <a:latin typeface="Arial"/>
                        </a:rPr>
                        <a:t>Normalized continuous sensors and categorical weather metrics.</a:t>
                      </a:r>
                    </a:p>
                  </a:txBody>
                  <a:tcPr>
                    <a:solidFill>
                      <a:srgbClr val="FFFFFF"/>
                    </a:solidFill>
                  </a:tcPr>
                </a:tc>
                <a:extLst>
                  <a:ext uri="{0D108BD9-81ED-4DB2-BD59-A6C34878D82A}">
                    <a16:rowId xmlns:a16="http://schemas.microsoft.com/office/drawing/2014/main" val="10003"/>
                  </a:ext>
                </a:extLst>
              </a:tr>
              <a:tr h="804672">
                <a:tc>
                  <a:txBody>
                    <a:bodyPr/>
                    <a:lstStyle/>
                    <a:p>
                      <a:pPr algn="l"/>
                      <a:r>
                        <a:rPr sz="1100" b="1" i="0">
                          <a:solidFill>
                            <a:srgbClr val="0F172A"/>
                          </a:solidFill>
                          <a:latin typeface="Arial"/>
                        </a:rPr>
                        <a:t>Target Variables</a:t>
                      </a:r>
                    </a:p>
                  </a:txBody>
                  <a:tcPr>
                    <a:solidFill>
                      <a:srgbClr val="F1F5F9"/>
                    </a:solidFill>
                  </a:tcPr>
                </a:tc>
                <a:tc>
                  <a:txBody>
                    <a:bodyPr/>
                    <a:lstStyle/>
                    <a:p>
                      <a:pPr algn="l"/>
                      <a:r>
                        <a:rPr sz="1100" b="1" i="0">
                          <a:solidFill>
                            <a:srgbClr val="0F172A"/>
                          </a:solidFill>
                          <a:latin typeface="Arial"/>
                        </a:rPr>
                        <a:t>cnt (casual + registered)</a:t>
                      </a:r>
                    </a:p>
                  </a:txBody>
                  <a:tcPr>
                    <a:solidFill>
                      <a:srgbClr val="F1F5F9"/>
                    </a:solidFill>
                  </a:tcPr>
                </a:tc>
                <a:tc>
                  <a:txBody>
                    <a:bodyPr/>
                    <a:lstStyle/>
                    <a:p>
                      <a:pPr algn="l"/>
                      <a:r>
                        <a:rPr sz="1100" b="0" i="0">
                          <a:solidFill>
                            <a:srgbClr val="0F172A"/>
                          </a:solidFill>
                          <a:latin typeface="Arial"/>
                        </a:rPr>
                        <a:t>Hourly count of total rental bikes; casual &amp; registered dropped in modeling.</a:t>
                      </a:r>
                    </a:p>
                  </a:txBody>
                  <a:tcPr>
                    <a:solidFill>
                      <a:srgbClr val="F1F5F9"/>
                    </a:solidFill>
                  </a:tcPr>
                </a:tc>
                <a:extLst>
                  <a:ext uri="{0D108BD9-81ED-4DB2-BD59-A6C34878D82A}">
                    <a16:rowId xmlns:a16="http://schemas.microsoft.com/office/drawing/2014/main" val="10004"/>
                  </a:ext>
                </a:extLst>
              </a:tr>
            </a:tbl>
          </a:graphicData>
        </a:graphic>
      </p:graphicFrame>
      <p:sp>
        <p:nvSpPr>
          <p:cNvPr id="7" name="Rounded Rectangle 6"/>
          <p:cNvSpPr/>
          <p:nvPr/>
        </p:nvSpPr>
        <p:spPr>
          <a:xfrm>
            <a:off x="7132320" y="1645920"/>
            <a:ext cx="4297680" cy="3535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06640" y="2064774"/>
            <a:ext cx="3931920" cy="2215991"/>
          </a:xfrm>
          <a:prstGeom prst="rect">
            <a:avLst/>
          </a:prstGeom>
          <a:noFill/>
        </p:spPr>
        <p:txBody>
          <a:bodyPr wrap="square">
            <a:spAutoFit/>
          </a:bodyPr>
          <a:lstStyle/>
          <a:p>
            <a:pPr>
              <a:spcAft>
                <a:spcPts val="1200"/>
              </a:spcAft>
            </a:pPr>
            <a:r>
              <a:rPr sz="2000" b="1" i="0" dirty="0">
                <a:solidFill>
                  <a:srgbClr val="0D9488"/>
                </a:solidFill>
                <a:latin typeface="Georgia"/>
              </a:rPr>
              <a:t>Dataset Characteristics</a:t>
            </a:r>
          </a:p>
          <a:p>
            <a:pPr>
              <a:spcAft>
                <a:spcPts val="1200"/>
              </a:spcAft>
            </a:pPr>
            <a:r>
              <a:rPr sz="1400" b="1" i="0" dirty="0">
                <a:solidFill>
                  <a:srgbClr val="0F172A"/>
                </a:solidFill>
                <a:latin typeface="Arial"/>
              </a:rPr>
              <a:t>Volume &amp; Granularity:</a:t>
            </a:r>
            <a:r>
              <a:rPr sz="1400" b="0" i="0" dirty="0">
                <a:solidFill>
                  <a:srgbClr val="0F172A"/>
                </a:solidFill>
                <a:latin typeface="Arial"/>
              </a:rPr>
              <a:t> 17,379 observations representing continuous hourly logging across years 2011 &amp; 2012</a:t>
            </a:r>
          </a:p>
          <a:p>
            <a:pPr>
              <a:spcAft>
                <a:spcPts val="1200"/>
              </a:spcAft>
            </a:pPr>
            <a:r>
              <a:rPr sz="1400" b="1" i="0" dirty="0">
                <a:solidFill>
                  <a:srgbClr val="0F172A"/>
                </a:solidFill>
                <a:latin typeface="Arial"/>
              </a:rPr>
              <a:t>Target Breakdown:</a:t>
            </a:r>
            <a:r>
              <a:rPr sz="1400" b="0" i="0" dirty="0">
                <a:solidFill>
                  <a:srgbClr val="0F172A"/>
                </a:solidFill>
                <a:latin typeface="Arial"/>
              </a:rPr>
              <a:t> The target variable '</a:t>
            </a:r>
            <a:r>
              <a:rPr sz="1400" b="0" i="0" dirty="0" err="1">
                <a:solidFill>
                  <a:srgbClr val="0F172A"/>
                </a:solidFill>
                <a:latin typeface="Arial"/>
              </a:rPr>
              <a:t>cnt</a:t>
            </a:r>
            <a:r>
              <a:rPr sz="1400" b="0" i="0" dirty="0">
                <a:solidFill>
                  <a:srgbClr val="0F172A"/>
                </a:solidFill>
                <a:latin typeface="Arial"/>
              </a:rPr>
              <a:t>' is a perfect linear sum of casual and registered riders. Dropping sub-components is mandatory to prevent perfect target leakage.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5912" cy="731520"/>
          </a:xfrm>
          <a:prstGeom prst="rect">
            <a:avLst/>
          </a:prstGeom>
          <a:noFill/>
        </p:spPr>
        <p:txBody>
          <a:bodyPr wrap="square" lIns="0" tIns="0" rIns="0" bIns="0">
            <a:spAutoFit/>
          </a:bodyPr>
          <a:lstStyle/>
          <a:p>
            <a:r>
              <a:rPr sz="2600" b="1" i="0">
                <a:solidFill>
                  <a:srgbClr val="0F172A"/>
                </a:solidFill>
                <a:latin typeface="Georgia"/>
              </a:rPr>
              <a:t>Project Workflow: End-to-End System Architecture</a:t>
            </a:r>
          </a:p>
        </p:txBody>
      </p:sp>
      <p:sp>
        <p:nvSpPr>
          <p:cNvPr id="3" name="Rectangle 2"/>
          <p:cNvSpPr/>
          <p:nvPr/>
        </p:nvSpPr>
        <p:spPr>
          <a:xfrm>
            <a:off x="731520" y="1051560"/>
            <a:ext cx="10725912" cy="25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0" y="6400800"/>
            <a:ext cx="731520" cy="274320"/>
          </a:xfrm>
          <a:prstGeom prst="rect">
            <a:avLst/>
          </a:prstGeom>
          <a:noFill/>
        </p:spPr>
        <p:txBody>
          <a:bodyPr wrap="square">
            <a:spAutoFit/>
          </a:bodyPr>
          <a:lstStyle/>
          <a:p>
            <a:pPr algn="r"/>
            <a:r>
              <a:rPr sz="1000" b="0" i="0">
                <a:solidFill>
                  <a:srgbClr val="64748B"/>
                </a:solidFill>
                <a:latin typeface="Arial"/>
              </a:rPr>
              <a:t>5</a:t>
            </a:r>
          </a:p>
        </p:txBody>
      </p:sp>
      <p:sp>
        <p:nvSpPr>
          <p:cNvPr id="5" name="TextBox 4"/>
          <p:cNvSpPr txBox="1"/>
          <p:nvPr/>
        </p:nvSpPr>
        <p:spPr>
          <a:xfrm>
            <a:off x="731520" y="6400800"/>
            <a:ext cx="4572000" cy="274320"/>
          </a:xfrm>
          <a:prstGeom prst="rect">
            <a:avLst/>
          </a:prstGeom>
          <a:noFill/>
        </p:spPr>
        <p:txBody>
          <a:bodyPr wrap="none">
            <a:spAutoFit/>
          </a:bodyPr>
          <a:lstStyle/>
          <a:p>
            <a:r>
              <a:rPr sz="1000" b="0" i="0">
                <a:solidFill>
                  <a:srgbClr val="64748B"/>
                </a:solidFill>
                <a:latin typeface="Arial"/>
              </a:rPr>
              <a:t>Bike Rental Demand Prediction | ML Project Presentation</a:t>
            </a:r>
          </a:p>
        </p:txBody>
      </p:sp>
      <p:sp>
        <p:nvSpPr>
          <p:cNvPr id="6" name="Rounded Rectangle 5"/>
          <p:cNvSpPr/>
          <p:nvPr/>
        </p:nvSpPr>
        <p:spPr>
          <a:xfrm>
            <a:off x="731520" y="1645920"/>
            <a:ext cx="1572768" cy="4023360"/>
          </a:xfrm>
          <a:prstGeom prst="roundRect">
            <a:avLst/>
          </a:prstGeom>
          <a:solidFill>
            <a:srgbClr val="0F172A"/>
          </a:solidFill>
          <a:ln w="12700">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828800"/>
            <a:ext cx="1389888" cy="2215991"/>
          </a:xfrm>
          <a:prstGeom prst="rect">
            <a:avLst/>
          </a:prstGeom>
          <a:noFill/>
        </p:spPr>
        <p:txBody>
          <a:bodyPr wrap="square">
            <a:spAutoFit/>
          </a:bodyPr>
          <a:lstStyle/>
          <a:p>
            <a:pPr algn="ctr"/>
            <a:r>
              <a:rPr sz="1100" b="1" i="0" dirty="0">
                <a:solidFill>
                  <a:srgbClr val="0D9488"/>
                </a:solidFill>
                <a:latin typeface="Arial"/>
              </a:rPr>
              <a:t>Phase 1</a:t>
            </a:r>
          </a:p>
          <a:p>
            <a:pPr algn="ctr">
              <a:spcAft>
                <a:spcPts val="1200"/>
              </a:spcAft>
            </a:pPr>
            <a:r>
              <a:rPr sz="1400" b="1" i="0" dirty="0">
                <a:solidFill>
                  <a:srgbClr val="F8FAFC"/>
                </a:solidFill>
                <a:latin typeface="Georgia"/>
              </a:rPr>
              <a:t>Ingestion</a:t>
            </a:r>
          </a:p>
          <a:p>
            <a:pPr>
              <a:spcAft>
                <a:spcPts val="600"/>
              </a:spcAft>
            </a:pPr>
            <a:r>
              <a:rPr sz="1100" b="0" i="0" dirty="0">
                <a:solidFill>
                  <a:srgbClr val="F8FAFC"/>
                </a:solidFill>
                <a:latin typeface="Arial"/>
              </a:rPr>
              <a:t>• Read raw dataset</a:t>
            </a:r>
          </a:p>
          <a:p>
            <a:pPr>
              <a:spcAft>
                <a:spcPts val="600"/>
              </a:spcAft>
            </a:pPr>
            <a:r>
              <a:rPr sz="1100" b="0" i="0" dirty="0">
                <a:solidFill>
                  <a:srgbClr val="F8FAFC"/>
                </a:solidFill>
                <a:latin typeface="Arial"/>
              </a:rPr>
              <a:t>• Coerce numerical continuous columns</a:t>
            </a:r>
          </a:p>
          <a:p>
            <a:pPr>
              <a:spcAft>
                <a:spcPts val="600"/>
              </a:spcAft>
            </a:pPr>
            <a:r>
              <a:rPr sz="1100" b="0" i="0" dirty="0">
                <a:solidFill>
                  <a:srgbClr val="F8FAFC"/>
                </a:solidFill>
                <a:latin typeface="Arial"/>
              </a:rPr>
              <a:t>• Parse datetime stamps</a:t>
            </a:r>
          </a:p>
          <a:p>
            <a:pPr>
              <a:spcAft>
                <a:spcPts val="600"/>
              </a:spcAft>
            </a:pPr>
            <a:r>
              <a:rPr sz="1100" b="0" i="0" dirty="0">
                <a:solidFill>
                  <a:srgbClr val="F8FAFC"/>
                </a:solidFill>
                <a:latin typeface="Arial"/>
              </a:rPr>
              <a:t>• Validate initial shape</a:t>
            </a:r>
          </a:p>
        </p:txBody>
      </p:sp>
      <p:sp>
        <p:nvSpPr>
          <p:cNvPr id="8" name="Rounded Rectangle 7"/>
          <p:cNvSpPr/>
          <p:nvPr/>
        </p:nvSpPr>
        <p:spPr>
          <a:xfrm>
            <a:off x="2487168" y="1645920"/>
            <a:ext cx="1572768" cy="4023360"/>
          </a:xfrm>
          <a:prstGeom prst="roundRect">
            <a:avLst/>
          </a:prstGeom>
          <a:solidFill>
            <a:srgbClr val="F0FDFA"/>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578608" y="1828800"/>
            <a:ext cx="1389888" cy="2262158"/>
          </a:xfrm>
          <a:prstGeom prst="rect">
            <a:avLst/>
          </a:prstGeom>
          <a:noFill/>
        </p:spPr>
        <p:txBody>
          <a:bodyPr wrap="square">
            <a:spAutoFit/>
          </a:bodyPr>
          <a:lstStyle/>
          <a:p>
            <a:pPr algn="ctr"/>
            <a:r>
              <a:rPr sz="1100" b="1" i="0" dirty="0">
                <a:solidFill>
                  <a:srgbClr val="0D9488"/>
                </a:solidFill>
                <a:latin typeface="Arial"/>
              </a:rPr>
              <a:t>Phase 2</a:t>
            </a:r>
          </a:p>
          <a:p>
            <a:pPr algn="ctr">
              <a:spcAft>
                <a:spcPts val="1200"/>
              </a:spcAft>
            </a:pPr>
            <a:r>
              <a:rPr sz="1400" b="1" i="0" dirty="0">
                <a:solidFill>
                  <a:srgbClr val="0F172A"/>
                </a:solidFill>
                <a:latin typeface="Georgia"/>
              </a:rPr>
              <a:t>Preprocessing</a:t>
            </a:r>
          </a:p>
          <a:p>
            <a:pPr>
              <a:spcAft>
                <a:spcPts val="600"/>
              </a:spcAft>
            </a:pPr>
            <a:r>
              <a:rPr sz="1100" b="0" i="0" dirty="0">
                <a:solidFill>
                  <a:srgbClr val="0F172A"/>
                </a:solidFill>
                <a:latin typeface="Arial"/>
              </a:rPr>
              <a:t>• Convert '?' to </a:t>
            </a:r>
            <a:r>
              <a:rPr sz="1100" b="0" i="0" dirty="0" err="1">
                <a:solidFill>
                  <a:srgbClr val="0F172A"/>
                </a:solidFill>
                <a:latin typeface="Arial"/>
              </a:rPr>
              <a:t>NaN</a:t>
            </a:r>
            <a:endParaRPr sz="1100" b="0" i="0" dirty="0">
              <a:solidFill>
                <a:srgbClr val="0F172A"/>
              </a:solidFill>
              <a:latin typeface="Arial"/>
            </a:endParaRPr>
          </a:p>
          <a:p>
            <a:pPr>
              <a:spcAft>
                <a:spcPts val="600"/>
              </a:spcAft>
            </a:pPr>
            <a:r>
              <a:rPr sz="1100" b="0" i="0" dirty="0">
                <a:solidFill>
                  <a:srgbClr val="0F172A"/>
                </a:solidFill>
                <a:latin typeface="Arial"/>
              </a:rPr>
              <a:t>• Impute with median/mode</a:t>
            </a:r>
          </a:p>
          <a:p>
            <a:pPr>
              <a:spcAft>
                <a:spcPts val="600"/>
              </a:spcAft>
            </a:pPr>
            <a:r>
              <a:rPr sz="1100" b="0" i="0" dirty="0">
                <a:solidFill>
                  <a:srgbClr val="0F172A"/>
                </a:solidFill>
                <a:latin typeface="Arial"/>
              </a:rPr>
              <a:t>• Correct spelling typos</a:t>
            </a:r>
          </a:p>
          <a:p>
            <a:pPr>
              <a:spcAft>
                <a:spcPts val="600"/>
              </a:spcAft>
            </a:pPr>
            <a:r>
              <a:rPr sz="1100" b="0" i="0" dirty="0">
                <a:solidFill>
                  <a:srgbClr val="0F172A"/>
                </a:solidFill>
                <a:latin typeface="Arial"/>
              </a:rPr>
              <a:t>• Eliminate leakage</a:t>
            </a:r>
          </a:p>
        </p:txBody>
      </p:sp>
      <p:sp>
        <p:nvSpPr>
          <p:cNvPr id="10" name="Rounded Rectangle 9"/>
          <p:cNvSpPr/>
          <p:nvPr/>
        </p:nvSpPr>
        <p:spPr>
          <a:xfrm>
            <a:off x="4242816" y="1645920"/>
            <a:ext cx="1572768" cy="4023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34256" y="1828800"/>
            <a:ext cx="1389888" cy="1538883"/>
          </a:xfrm>
          <a:prstGeom prst="rect">
            <a:avLst/>
          </a:prstGeom>
          <a:noFill/>
        </p:spPr>
        <p:txBody>
          <a:bodyPr wrap="square">
            <a:spAutoFit/>
          </a:bodyPr>
          <a:lstStyle/>
          <a:p>
            <a:pPr algn="ctr"/>
            <a:r>
              <a:rPr sz="1100" b="1" i="0" dirty="0">
                <a:solidFill>
                  <a:schemeClr val="tx1">
                    <a:lumMod val="85000"/>
                    <a:lumOff val="15000"/>
                  </a:schemeClr>
                </a:solidFill>
                <a:latin typeface="Arial"/>
              </a:rPr>
              <a:t>Phase 3</a:t>
            </a:r>
          </a:p>
          <a:p>
            <a:pPr algn="ctr">
              <a:spcAft>
                <a:spcPts val="1200"/>
              </a:spcAft>
            </a:pPr>
            <a:r>
              <a:rPr sz="1400" b="1" i="0" dirty="0">
                <a:solidFill>
                  <a:srgbClr val="0F172A"/>
                </a:solidFill>
                <a:latin typeface="Georgia"/>
              </a:rPr>
              <a:t>EDA Focus</a:t>
            </a:r>
          </a:p>
          <a:p>
            <a:pPr>
              <a:spcAft>
                <a:spcPts val="600"/>
              </a:spcAft>
            </a:pPr>
            <a:r>
              <a:rPr sz="1100" b="0" i="0" dirty="0">
                <a:solidFill>
                  <a:srgbClr val="0F172A"/>
                </a:solidFill>
                <a:latin typeface="Arial"/>
              </a:rPr>
              <a:t>• Skewness checks</a:t>
            </a:r>
          </a:p>
          <a:p>
            <a:pPr>
              <a:spcAft>
                <a:spcPts val="600"/>
              </a:spcAft>
            </a:pPr>
            <a:r>
              <a:rPr sz="1100" b="0" i="0" dirty="0">
                <a:solidFill>
                  <a:srgbClr val="0F172A"/>
                </a:solidFill>
                <a:latin typeface="Arial"/>
              </a:rPr>
              <a:t>• Seasonal bars</a:t>
            </a:r>
          </a:p>
          <a:p>
            <a:pPr>
              <a:spcAft>
                <a:spcPts val="600"/>
              </a:spcAft>
            </a:pPr>
            <a:r>
              <a:rPr sz="1100" b="0" i="0" dirty="0">
                <a:solidFill>
                  <a:srgbClr val="0F172A"/>
                </a:solidFill>
                <a:latin typeface="Arial"/>
              </a:rPr>
              <a:t>• Hourly line trends</a:t>
            </a:r>
          </a:p>
          <a:p>
            <a:pPr>
              <a:spcAft>
                <a:spcPts val="600"/>
              </a:spcAft>
            </a:pPr>
            <a:r>
              <a:rPr sz="1100" b="0" i="0" dirty="0">
                <a:solidFill>
                  <a:srgbClr val="0F172A"/>
                </a:solidFill>
                <a:latin typeface="Arial"/>
              </a:rPr>
              <a:t>• Outlier box plots</a:t>
            </a:r>
          </a:p>
        </p:txBody>
      </p:sp>
      <p:sp>
        <p:nvSpPr>
          <p:cNvPr id="12" name="Rounded Rectangle 11"/>
          <p:cNvSpPr/>
          <p:nvPr/>
        </p:nvSpPr>
        <p:spPr>
          <a:xfrm>
            <a:off x="5998464" y="1645920"/>
            <a:ext cx="1572768" cy="4023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089904" y="1828800"/>
            <a:ext cx="1389888" cy="1708160"/>
          </a:xfrm>
          <a:prstGeom prst="rect">
            <a:avLst/>
          </a:prstGeom>
          <a:noFill/>
        </p:spPr>
        <p:txBody>
          <a:bodyPr wrap="square">
            <a:spAutoFit/>
          </a:bodyPr>
          <a:lstStyle/>
          <a:p>
            <a:pPr algn="ctr"/>
            <a:r>
              <a:rPr sz="1100" b="1" i="0" dirty="0">
                <a:solidFill>
                  <a:schemeClr val="bg2">
                    <a:lumMod val="25000"/>
                  </a:schemeClr>
                </a:solidFill>
                <a:latin typeface="Arial"/>
              </a:rPr>
              <a:t>Phase 4</a:t>
            </a:r>
          </a:p>
          <a:p>
            <a:pPr algn="ctr">
              <a:spcAft>
                <a:spcPts val="1200"/>
              </a:spcAft>
            </a:pPr>
            <a:r>
              <a:rPr sz="1400" b="1" i="0" dirty="0">
                <a:solidFill>
                  <a:srgbClr val="0F172A"/>
                </a:solidFill>
                <a:latin typeface="Georgia"/>
              </a:rPr>
              <a:t>Feature Eng.</a:t>
            </a:r>
          </a:p>
          <a:p>
            <a:pPr>
              <a:spcAft>
                <a:spcPts val="600"/>
              </a:spcAft>
            </a:pPr>
            <a:r>
              <a:rPr sz="1100" b="0" i="0" dirty="0">
                <a:solidFill>
                  <a:srgbClr val="0F172A"/>
                </a:solidFill>
                <a:latin typeface="Arial"/>
              </a:rPr>
              <a:t>• Build </a:t>
            </a:r>
            <a:r>
              <a:rPr sz="1100" b="0" i="0" dirty="0" err="1">
                <a:solidFill>
                  <a:srgbClr val="0F172A"/>
                </a:solidFill>
                <a:latin typeface="Arial"/>
              </a:rPr>
              <a:t>Peak_Hour</a:t>
            </a:r>
            <a:endParaRPr sz="1100" b="0" i="0" dirty="0">
              <a:solidFill>
                <a:srgbClr val="0F172A"/>
              </a:solidFill>
              <a:latin typeface="Arial"/>
            </a:endParaRPr>
          </a:p>
          <a:p>
            <a:pPr>
              <a:spcAft>
                <a:spcPts val="600"/>
              </a:spcAft>
            </a:pPr>
            <a:r>
              <a:rPr sz="1100" b="0" i="0" dirty="0">
                <a:solidFill>
                  <a:srgbClr val="0F172A"/>
                </a:solidFill>
                <a:latin typeface="Arial"/>
              </a:rPr>
              <a:t>• Create </a:t>
            </a:r>
            <a:r>
              <a:rPr sz="1100" b="0" i="0" dirty="0" err="1">
                <a:solidFill>
                  <a:srgbClr val="0F172A"/>
                </a:solidFill>
                <a:latin typeface="Arial"/>
              </a:rPr>
              <a:t>hour_bucket</a:t>
            </a:r>
            <a:endParaRPr sz="1100" b="0" i="0" dirty="0">
              <a:solidFill>
                <a:srgbClr val="0F172A"/>
              </a:solidFill>
              <a:latin typeface="Arial"/>
            </a:endParaRPr>
          </a:p>
          <a:p>
            <a:pPr>
              <a:spcAft>
                <a:spcPts val="600"/>
              </a:spcAft>
            </a:pPr>
            <a:r>
              <a:rPr sz="1100" b="0" i="0" dirty="0">
                <a:solidFill>
                  <a:srgbClr val="0F172A"/>
                </a:solidFill>
                <a:latin typeface="Arial"/>
              </a:rPr>
              <a:t>• Derive Weekend</a:t>
            </a:r>
          </a:p>
          <a:p>
            <a:pPr>
              <a:spcAft>
                <a:spcPts val="600"/>
              </a:spcAft>
            </a:pPr>
            <a:r>
              <a:rPr sz="1100" b="0" i="0" dirty="0">
                <a:solidFill>
                  <a:srgbClr val="0F172A"/>
                </a:solidFill>
                <a:latin typeface="Arial"/>
              </a:rPr>
              <a:t>• Standard scaling</a:t>
            </a:r>
          </a:p>
        </p:txBody>
      </p:sp>
      <p:sp>
        <p:nvSpPr>
          <p:cNvPr id="14" name="Rounded Rectangle 13"/>
          <p:cNvSpPr/>
          <p:nvPr/>
        </p:nvSpPr>
        <p:spPr>
          <a:xfrm>
            <a:off x="7754112" y="1645920"/>
            <a:ext cx="1572768" cy="4023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845552" y="1828800"/>
            <a:ext cx="1389888" cy="2215991"/>
          </a:xfrm>
          <a:prstGeom prst="rect">
            <a:avLst/>
          </a:prstGeom>
          <a:noFill/>
        </p:spPr>
        <p:txBody>
          <a:bodyPr wrap="square">
            <a:spAutoFit/>
          </a:bodyPr>
          <a:lstStyle/>
          <a:p>
            <a:pPr algn="ctr"/>
            <a:r>
              <a:rPr sz="1100" b="1" i="0" dirty="0">
                <a:solidFill>
                  <a:schemeClr val="tx2">
                    <a:lumMod val="75000"/>
                  </a:schemeClr>
                </a:solidFill>
                <a:latin typeface="Arial"/>
              </a:rPr>
              <a:t>Phase 5</a:t>
            </a:r>
          </a:p>
          <a:p>
            <a:pPr algn="ctr">
              <a:spcAft>
                <a:spcPts val="1200"/>
              </a:spcAft>
            </a:pPr>
            <a:r>
              <a:rPr sz="1400" b="1" i="0" dirty="0">
                <a:solidFill>
                  <a:srgbClr val="0F172A"/>
                </a:solidFill>
                <a:latin typeface="Georgia"/>
              </a:rPr>
              <a:t>Modeling</a:t>
            </a:r>
          </a:p>
          <a:p>
            <a:pPr>
              <a:spcAft>
                <a:spcPts val="600"/>
              </a:spcAft>
            </a:pPr>
            <a:r>
              <a:rPr sz="1100" b="0" i="0" dirty="0">
                <a:solidFill>
                  <a:srgbClr val="0F172A"/>
                </a:solidFill>
                <a:latin typeface="Arial"/>
              </a:rPr>
              <a:t>• Benchmark 5 regressors</a:t>
            </a:r>
          </a:p>
          <a:p>
            <a:pPr>
              <a:spcAft>
                <a:spcPts val="600"/>
              </a:spcAft>
            </a:pPr>
            <a:r>
              <a:rPr sz="1100" b="0" i="0" dirty="0">
                <a:solidFill>
                  <a:srgbClr val="0F172A"/>
                </a:solidFill>
                <a:latin typeface="Arial"/>
              </a:rPr>
              <a:t>• Compare R2 &amp; RMSE</a:t>
            </a:r>
          </a:p>
          <a:p>
            <a:pPr>
              <a:spcAft>
                <a:spcPts val="600"/>
              </a:spcAft>
            </a:pPr>
            <a:r>
              <a:rPr sz="1100" b="0" i="0" dirty="0">
                <a:solidFill>
                  <a:srgbClr val="0F172A"/>
                </a:solidFill>
                <a:latin typeface="Arial"/>
              </a:rPr>
              <a:t>• Optimize </a:t>
            </a:r>
            <a:r>
              <a:rPr sz="1100" b="0" i="0" dirty="0" err="1">
                <a:solidFill>
                  <a:srgbClr val="0F172A"/>
                </a:solidFill>
                <a:latin typeface="Arial"/>
              </a:rPr>
              <a:t>XGBoost</a:t>
            </a:r>
            <a:endParaRPr sz="1100" b="0" i="0" dirty="0">
              <a:solidFill>
                <a:srgbClr val="0F172A"/>
              </a:solidFill>
              <a:latin typeface="Arial"/>
            </a:endParaRPr>
          </a:p>
          <a:p>
            <a:pPr>
              <a:spcAft>
                <a:spcPts val="600"/>
              </a:spcAft>
            </a:pPr>
            <a:r>
              <a:rPr sz="1100" b="0" i="0" dirty="0">
                <a:solidFill>
                  <a:srgbClr val="0F172A"/>
                </a:solidFill>
                <a:latin typeface="Arial"/>
              </a:rPr>
              <a:t>• Cross-validate parameters</a:t>
            </a:r>
          </a:p>
        </p:txBody>
      </p:sp>
      <p:sp>
        <p:nvSpPr>
          <p:cNvPr id="16" name="Rounded Rectangle 15"/>
          <p:cNvSpPr/>
          <p:nvPr/>
        </p:nvSpPr>
        <p:spPr>
          <a:xfrm>
            <a:off x="9509760" y="1645920"/>
            <a:ext cx="1572768" cy="4023360"/>
          </a:xfrm>
          <a:prstGeom prst="roundRect">
            <a:avLst/>
          </a:prstGeom>
          <a:solidFill>
            <a:srgbClr val="FFF7ED"/>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0" y="1828800"/>
            <a:ext cx="1389888" cy="2554545"/>
          </a:xfrm>
          <a:prstGeom prst="rect">
            <a:avLst/>
          </a:prstGeom>
          <a:noFill/>
        </p:spPr>
        <p:txBody>
          <a:bodyPr wrap="square">
            <a:spAutoFit/>
          </a:bodyPr>
          <a:lstStyle/>
          <a:p>
            <a:pPr algn="ctr"/>
            <a:r>
              <a:rPr sz="1100" b="1" i="0" dirty="0">
                <a:solidFill>
                  <a:srgbClr val="EA580C"/>
                </a:solidFill>
                <a:latin typeface="Arial"/>
              </a:rPr>
              <a:t>Phase 6</a:t>
            </a:r>
          </a:p>
          <a:p>
            <a:pPr algn="ctr">
              <a:spcAft>
                <a:spcPts val="1200"/>
              </a:spcAft>
            </a:pPr>
            <a:r>
              <a:rPr sz="1400" b="1" i="0" dirty="0">
                <a:solidFill>
                  <a:srgbClr val="0F172A"/>
                </a:solidFill>
                <a:latin typeface="Georgia"/>
              </a:rPr>
              <a:t>Deployment</a:t>
            </a:r>
          </a:p>
          <a:p>
            <a:pPr>
              <a:spcAft>
                <a:spcPts val="600"/>
              </a:spcAft>
            </a:pPr>
            <a:r>
              <a:rPr sz="1000" b="0" i="0" dirty="0">
                <a:solidFill>
                  <a:srgbClr val="0F172A"/>
                </a:solidFill>
                <a:latin typeface="Arial"/>
              </a:rPr>
              <a:t>• </a:t>
            </a:r>
            <a:r>
              <a:rPr sz="1100" b="0" i="0" dirty="0">
                <a:solidFill>
                  <a:srgbClr val="0F172A"/>
                </a:solidFill>
                <a:latin typeface="Arial"/>
              </a:rPr>
              <a:t>Serialize tuned model</a:t>
            </a:r>
          </a:p>
          <a:p>
            <a:pPr>
              <a:spcAft>
                <a:spcPts val="600"/>
              </a:spcAft>
            </a:pPr>
            <a:r>
              <a:rPr sz="1100" b="0" i="0" dirty="0">
                <a:solidFill>
                  <a:srgbClr val="0F172A"/>
                </a:solidFill>
                <a:latin typeface="Arial"/>
              </a:rPr>
              <a:t>• Export preprocessing pickles</a:t>
            </a:r>
          </a:p>
          <a:p>
            <a:pPr>
              <a:spcAft>
                <a:spcPts val="600"/>
              </a:spcAft>
            </a:pPr>
            <a:r>
              <a:rPr sz="1100" b="0" i="0" dirty="0">
                <a:solidFill>
                  <a:srgbClr val="0F172A"/>
                </a:solidFill>
                <a:latin typeface="Arial"/>
              </a:rPr>
              <a:t>• Build </a:t>
            </a:r>
            <a:r>
              <a:rPr sz="1100" b="0" i="0" dirty="0" err="1">
                <a:solidFill>
                  <a:srgbClr val="0F172A"/>
                </a:solidFill>
                <a:latin typeface="Arial"/>
              </a:rPr>
              <a:t>Streamlit</a:t>
            </a:r>
            <a:r>
              <a:rPr sz="1100" b="0" i="0" dirty="0">
                <a:solidFill>
                  <a:srgbClr val="0F172A"/>
                </a:solidFill>
                <a:latin typeface="Arial"/>
              </a:rPr>
              <a:t> app</a:t>
            </a:r>
          </a:p>
          <a:p>
            <a:pPr>
              <a:spcAft>
                <a:spcPts val="600"/>
              </a:spcAft>
            </a:pPr>
            <a:r>
              <a:rPr sz="1100" b="0" i="0" dirty="0">
                <a:solidFill>
                  <a:srgbClr val="0F172A"/>
                </a:solidFill>
                <a:latin typeface="Arial"/>
              </a:rPr>
              <a:t>• Launch interactive interface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5912" cy="731520"/>
          </a:xfrm>
          <a:prstGeom prst="rect">
            <a:avLst/>
          </a:prstGeom>
          <a:noFill/>
        </p:spPr>
        <p:txBody>
          <a:bodyPr wrap="square" lIns="0" tIns="0" rIns="0" bIns="0">
            <a:spAutoFit/>
          </a:bodyPr>
          <a:lstStyle/>
          <a:p>
            <a:r>
              <a:rPr sz="2600" b="1" i="0">
                <a:solidFill>
                  <a:srgbClr val="0F172A"/>
                </a:solidFill>
                <a:latin typeface="Georgia"/>
              </a:rPr>
              <a:t>Data Preprocessing: Establishing Clean Pipelines</a:t>
            </a:r>
          </a:p>
        </p:txBody>
      </p:sp>
      <p:sp>
        <p:nvSpPr>
          <p:cNvPr id="3" name="Rectangle 2"/>
          <p:cNvSpPr/>
          <p:nvPr/>
        </p:nvSpPr>
        <p:spPr>
          <a:xfrm>
            <a:off x="731520" y="1051560"/>
            <a:ext cx="10725912" cy="25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0" y="6400800"/>
            <a:ext cx="731520" cy="274320"/>
          </a:xfrm>
          <a:prstGeom prst="rect">
            <a:avLst/>
          </a:prstGeom>
          <a:noFill/>
        </p:spPr>
        <p:txBody>
          <a:bodyPr wrap="square">
            <a:spAutoFit/>
          </a:bodyPr>
          <a:lstStyle/>
          <a:p>
            <a:pPr algn="r"/>
            <a:r>
              <a:rPr sz="1000" b="0" i="0">
                <a:solidFill>
                  <a:srgbClr val="64748B"/>
                </a:solidFill>
                <a:latin typeface="Arial"/>
              </a:rPr>
              <a:t>6</a:t>
            </a:r>
          </a:p>
        </p:txBody>
      </p:sp>
      <p:sp>
        <p:nvSpPr>
          <p:cNvPr id="5" name="TextBox 4"/>
          <p:cNvSpPr txBox="1"/>
          <p:nvPr/>
        </p:nvSpPr>
        <p:spPr>
          <a:xfrm>
            <a:off x="731520" y="6400800"/>
            <a:ext cx="4572000" cy="274320"/>
          </a:xfrm>
          <a:prstGeom prst="rect">
            <a:avLst/>
          </a:prstGeom>
          <a:noFill/>
        </p:spPr>
        <p:txBody>
          <a:bodyPr wrap="none">
            <a:spAutoFit/>
          </a:bodyPr>
          <a:lstStyle/>
          <a:p>
            <a:r>
              <a:rPr sz="1000" b="0" i="0">
                <a:solidFill>
                  <a:srgbClr val="64748B"/>
                </a:solidFill>
                <a:latin typeface="Arial"/>
              </a:rPr>
              <a:t>Bike Rental Demand Prediction | ML Project Presentation</a:t>
            </a:r>
          </a:p>
        </p:txBody>
      </p:sp>
      <p:sp>
        <p:nvSpPr>
          <p:cNvPr id="6" name="Rounded Rectangle 5"/>
          <p:cNvSpPr/>
          <p:nvPr/>
        </p:nvSpPr>
        <p:spPr>
          <a:xfrm>
            <a:off x="889819" y="1515151"/>
            <a:ext cx="9916815" cy="4616648"/>
          </a:xfrm>
          <a:prstGeom prst="roundRect">
            <a:avLst/>
          </a:prstGeom>
          <a:solidFill>
            <a:srgbClr val="FFFFFF"/>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97859" y="1584632"/>
            <a:ext cx="9100736" cy="4616648"/>
          </a:xfrm>
          <a:prstGeom prst="rect">
            <a:avLst/>
          </a:prstGeom>
          <a:noFill/>
        </p:spPr>
        <p:txBody>
          <a:bodyPr wrap="square">
            <a:spAutoFit/>
          </a:bodyPr>
          <a:lstStyle/>
          <a:p>
            <a:pPr>
              <a:spcAft>
                <a:spcPts val="1200"/>
              </a:spcAft>
            </a:pPr>
            <a:r>
              <a:rPr sz="2000" b="1" i="0" dirty="0">
                <a:solidFill>
                  <a:srgbClr val="0D9488"/>
                </a:solidFill>
                <a:latin typeface="Georgia"/>
              </a:rPr>
              <a:t>Data Integrity &amp; Imputations</a:t>
            </a:r>
          </a:p>
          <a:p>
            <a:pPr>
              <a:spcAft>
                <a:spcPts val="1200"/>
              </a:spcAft>
            </a:pPr>
            <a:r>
              <a:rPr sz="1400" b="1" i="0" dirty="0">
                <a:solidFill>
                  <a:srgbClr val="0F172A"/>
                </a:solidFill>
                <a:latin typeface="Arial"/>
              </a:rPr>
              <a:t>Inconsistent Nulls:</a:t>
            </a:r>
            <a:r>
              <a:rPr sz="1400" b="0" i="0" dirty="0">
                <a:solidFill>
                  <a:srgbClr val="0F172A"/>
                </a:solidFill>
                <a:latin typeface="Arial"/>
              </a:rPr>
              <a:t> Identified non-standard '?' strings representing missing inputs in continuous environmental features.</a:t>
            </a:r>
          </a:p>
          <a:p>
            <a:pPr>
              <a:spcAft>
                <a:spcPts val="1200"/>
              </a:spcAft>
            </a:pPr>
            <a:r>
              <a:rPr sz="1400" b="1" i="0" dirty="0">
                <a:solidFill>
                  <a:srgbClr val="0F172A"/>
                </a:solidFill>
                <a:latin typeface="Arial"/>
              </a:rPr>
              <a:t>Systemic Coercion:</a:t>
            </a:r>
            <a:r>
              <a:rPr sz="1400" b="0" i="0" dirty="0">
                <a:solidFill>
                  <a:srgbClr val="0F172A"/>
                </a:solidFill>
                <a:latin typeface="Arial"/>
              </a:rPr>
              <a:t> Converted '?' values to standard NumPy </a:t>
            </a:r>
            <a:r>
              <a:rPr sz="1400" b="0" i="0" dirty="0" err="1">
                <a:solidFill>
                  <a:srgbClr val="0F172A"/>
                </a:solidFill>
                <a:latin typeface="Arial"/>
              </a:rPr>
              <a:t>NaNs</a:t>
            </a:r>
            <a:r>
              <a:rPr sz="1400" b="0" i="0" dirty="0">
                <a:solidFill>
                  <a:srgbClr val="0F172A"/>
                </a:solidFill>
                <a:latin typeface="Arial"/>
              </a:rPr>
              <a:t>, forcing categorical columns to proper data types.</a:t>
            </a:r>
          </a:p>
          <a:p>
            <a:pPr>
              <a:spcAft>
                <a:spcPts val="1200"/>
              </a:spcAft>
            </a:pPr>
            <a:r>
              <a:rPr sz="1400" b="1" i="0" dirty="0">
                <a:solidFill>
                  <a:srgbClr val="0F172A"/>
                </a:solidFill>
                <a:latin typeface="Arial"/>
              </a:rPr>
              <a:t>Continuous Imputation:</a:t>
            </a:r>
            <a:r>
              <a:rPr sz="1400" b="0" i="0" dirty="0">
                <a:solidFill>
                  <a:srgbClr val="0F172A"/>
                </a:solidFill>
                <a:latin typeface="Arial"/>
              </a:rPr>
              <a:t> Handled missing continuous sensory inputs by imputing columns using medians to guard against extreme outliers.</a:t>
            </a:r>
          </a:p>
          <a:p>
            <a:pPr>
              <a:spcAft>
                <a:spcPts val="1200"/>
              </a:spcAft>
            </a:pPr>
            <a:r>
              <a:rPr sz="1400" b="1" i="0" dirty="0">
                <a:solidFill>
                  <a:srgbClr val="0F172A"/>
                </a:solidFill>
                <a:latin typeface="Arial"/>
              </a:rPr>
              <a:t>Categorical Imputation:</a:t>
            </a:r>
            <a:r>
              <a:rPr sz="1400" b="0" i="0" dirty="0">
                <a:solidFill>
                  <a:srgbClr val="0F172A"/>
                </a:solidFill>
                <a:latin typeface="Arial"/>
              </a:rPr>
              <a:t> Filled empty categorical values with the mode to preserve standard class frequencies.</a:t>
            </a:r>
            <a:endParaRPr lang="en-US" sz="1400" b="0" i="0" dirty="0">
              <a:solidFill>
                <a:srgbClr val="0F172A"/>
              </a:solidFill>
              <a:latin typeface="Arial"/>
            </a:endParaRPr>
          </a:p>
          <a:p>
            <a:pPr>
              <a:spcAft>
                <a:spcPts val="1200"/>
              </a:spcAft>
            </a:pPr>
            <a:r>
              <a:rPr lang="en-IN" sz="1400" b="1" dirty="0">
                <a:solidFill>
                  <a:srgbClr val="0F172A"/>
                </a:solidFill>
                <a:latin typeface="Arial"/>
              </a:rPr>
              <a:t>Typographical Standardization:</a:t>
            </a:r>
            <a:r>
              <a:rPr lang="en-IN" sz="1400" dirty="0">
                <a:solidFill>
                  <a:srgbClr val="0F172A"/>
                </a:solidFill>
                <a:latin typeface="Arial"/>
              </a:rPr>
              <a:t> Rectified critical spelling inconsistency in 'season' where spring was misspelled as 'springer'.</a:t>
            </a:r>
          </a:p>
          <a:p>
            <a:pPr>
              <a:spcAft>
                <a:spcPts val="1200"/>
              </a:spcAft>
            </a:pPr>
            <a:r>
              <a:rPr lang="en-IN" sz="1400" b="1" dirty="0">
                <a:solidFill>
                  <a:srgbClr val="0F172A"/>
                </a:solidFill>
                <a:latin typeface="Arial"/>
              </a:rPr>
              <a:t>Reconciling Missing Years/Months:</a:t>
            </a:r>
            <a:r>
              <a:rPr lang="en-IN" sz="1400" dirty="0">
                <a:solidFill>
                  <a:srgbClr val="0F172A"/>
                </a:solidFill>
                <a:latin typeface="Arial"/>
              </a:rPr>
              <a:t> Injected missing 'yr' and '</a:t>
            </a:r>
            <a:r>
              <a:rPr lang="en-IN" sz="1400" dirty="0" err="1">
                <a:solidFill>
                  <a:srgbClr val="0F172A"/>
                </a:solidFill>
                <a:latin typeface="Arial"/>
              </a:rPr>
              <a:t>mnth</a:t>
            </a:r>
            <a:r>
              <a:rPr lang="en-IN" sz="1400" dirty="0">
                <a:solidFill>
                  <a:srgbClr val="0F172A"/>
                </a:solidFill>
                <a:latin typeface="Arial"/>
              </a:rPr>
              <a:t>' variables by extracting them directly from the raw '</a:t>
            </a:r>
            <a:r>
              <a:rPr lang="en-IN" sz="1400" dirty="0" err="1">
                <a:solidFill>
                  <a:srgbClr val="0F172A"/>
                </a:solidFill>
                <a:latin typeface="Arial"/>
              </a:rPr>
              <a:t>dteday</a:t>
            </a:r>
            <a:r>
              <a:rPr lang="en-IN" sz="1400" dirty="0">
                <a:solidFill>
                  <a:srgbClr val="0F172A"/>
                </a:solidFill>
                <a:latin typeface="Arial"/>
              </a:rPr>
              <a:t>' datetime stamps.</a:t>
            </a:r>
          </a:p>
          <a:p>
            <a:pPr>
              <a:spcAft>
                <a:spcPts val="1200"/>
              </a:spcAft>
            </a:pPr>
            <a:r>
              <a:rPr lang="en-IN" sz="1400" b="1" dirty="0">
                <a:solidFill>
                  <a:srgbClr val="0F172A"/>
                </a:solidFill>
                <a:latin typeface="Arial"/>
              </a:rPr>
              <a:t>Duplicate Rows Auditing:</a:t>
            </a:r>
            <a:r>
              <a:rPr lang="en-IN" sz="1400" dirty="0">
                <a:solidFill>
                  <a:srgbClr val="0F172A"/>
                </a:solidFill>
                <a:latin typeface="Arial"/>
              </a:rPr>
              <a:t> Verified whole-dataset uniqueness, confirming exactly 0 duplicate rows, ensuring zero train-test data leakage.</a:t>
            </a:r>
          </a:p>
          <a:p>
            <a:pPr>
              <a:spcAft>
                <a:spcPts val="1200"/>
              </a:spcAft>
            </a:pPr>
            <a:endParaRPr sz="1200" b="0" i="0" dirty="0">
              <a:solidFill>
                <a:srgbClr val="0F172A"/>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5912" cy="731520"/>
          </a:xfrm>
          <a:prstGeom prst="rect">
            <a:avLst/>
          </a:prstGeom>
          <a:noFill/>
        </p:spPr>
        <p:txBody>
          <a:bodyPr wrap="square" lIns="0" tIns="0" rIns="0" bIns="0">
            <a:spAutoFit/>
          </a:bodyPr>
          <a:lstStyle/>
          <a:p>
            <a:r>
              <a:rPr sz="2600" b="1" i="0">
                <a:solidFill>
                  <a:srgbClr val="0F172A"/>
                </a:solidFill>
                <a:latin typeface="Georgia"/>
              </a:rPr>
              <a:t>EDA Overview: Outlier Diagnostics &amp; Sensory Audits</a:t>
            </a:r>
          </a:p>
        </p:txBody>
      </p:sp>
      <p:sp>
        <p:nvSpPr>
          <p:cNvPr id="3" name="Rectangle 2"/>
          <p:cNvSpPr/>
          <p:nvPr/>
        </p:nvSpPr>
        <p:spPr>
          <a:xfrm>
            <a:off x="731520" y="1051560"/>
            <a:ext cx="10725912" cy="25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0" y="6400800"/>
            <a:ext cx="731520" cy="274320"/>
          </a:xfrm>
          <a:prstGeom prst="rect">
            <a:avLst/>
          </a:prstGeom>
          <a:noFill/>
        </p:spPr>
        <p:txBody>
          <a:bodyPr wrap="square">
            <a:spAutoFit/>
          </a:bodyPr>
          <a:lstStyle/>
          <a:p>
            <a:pPr algn="r"/>
            <a:r>
              <a:rPr sz="1000" b="0" i="0">
                <a:solidFill>
                  <a:srgbClr val="64748B"/>
                </a:solidFill>
                <a:latin typeface="Arial"/>
              </a:rPr>
              <a:t>7</a:t>
            </a:r>
          </a:p>
        </p:txBody>
      </p:sp>
      <p:sp>
        <p:nvSpPr>
          <p:cNvPr id="5" name="TextBox 4"/>
          <p:cNvSpPr txBox="1"/>
          <p:nvPr/>
        </p:nvSpPr>
        <p:spPr>
          <a:xfrm>
            <a:off x="731520" y="6400800"/>
            <a:ext cx="4572000" cy="274320"/>
          </a:xfrm>
          <a:prstGeom prst="rect">
            <a:avLst/>
          </a:prstGeom>
          <a:noFill/>
        </p:spPr>
        <p:txBody>
          <a:bodyPr wrap="none">
            <a:spAutoFit/>
          </a:bodyPr>
          <a:lstStyle/>
          <a:p>
            <a:r>
              <a:rPr sz="1000" b="0" i="0" dirty="0">
                <a:solidFill>
                  <a:srgbClr val="64748B"/>
                </a:solidFill>
                <a:latin typeface="Arial"/>
              </a:rPr>
              <a:t>Bike Rental Demand Prediction | ML Project Presentation</a:t>
            </a:r>
          </a:p>
        </p:txBody>
      </p:sp>
      <p:sp>
        <p:nvSpPr>
          <p:cNvPr id="6" name="Rounded Rectangle 5"/>
          <p:cNvSpPr/>
          <p:nvPr/>
        </p:nvSpPr>
        <p:spPr>
          <a:xfrm>
            <a:off x="944880" y="2255393"/>
            <a:ext cx="4572001" cy="2956687"/>
          </a:xfrm>
          <a:prstGeom prst="roundRect">
            <a:avLst>
              <a:gd name="adj" fmla="val 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309360" y="1645920"/>
            <a:ext cx="512064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0" y="1828800"/>
            <a:ext cx="4754880" cy="3749039"/>
          </a:xfrm>
          <a:prstGeom prst="rect">
            <a:avLst/>
          </a:prstGeom>
          <a:noFill/>
        </p:spPr>
        <p:txBody>
          <a:bodyPr wrap="square">
            <a:spAutoFit/>
          </a:bodyPr>
          <a:lstStyle/>
          <a:p>
            <a:pPr>
              <a:spcAft>
                <a:spcPts val="1200"/>
              </a:spcAft>
            </a:pPr>
            <a:r>
              <a:rPr sz="2000" b="1" i="0">
                <a:solidFill>
                  <a:srgbClr val="0D9488"/>
                </a:solidFill>
                <a:latin typeface="Georgia"/>
              </a:rPr>
              <a:t>Key Analytical Insights</a:t>
            </a:r>
          </a:p>
          <a:p>
            <a:pPr>
              <a:spcAft>
                <a:spcPts val="1200"/>
              </a:spcAft>
            </a:pPr>
            <a:r>
              <a:rPr sz="1300" b="1" i="0">
                <a:solidFill>
                  <a:srgbClr val="0F172A"/>
                </a:solidFill>
                <a:latin typeface="Arial"/>
              </a:rPr>
              <a:t>Continuous Feature Diagnostics:</a:t>
            </a:r>
            <a:r>
              <a:rPr sz="1300" b="0" i="0">
                <a:solidFill>
                  <a:srgbClr val="0F172A"/>
                </a:solidFill>
                <a:latin typeface="Arial"/>
              </a:rPr>
              <a:t> Evaluated core continuous sensors (temp, atemp, hum, windspeed) to locate outliers and scaling variations.</a:t>
            </a:r>
          </a:p>
          <a:p>
            <a:pPr>
              <a:spcAft>
                <a:spcPts val="1200"/>
              </a:spcAft>
            </a:pPr>
            <a:r>
              <a:rPr sz="1300" b="1" i="0">
                <a:solidFill>
                  <a:srgbClr val="0F172A"/>
                </a:solidFill>
                <a:latin typeface="Arial"/>
              </a:rPr>
              <a:t>IQR Outlier Auditing:</a:t>
            </a:r>
            <a:r>
              <a:rPr sz="1300" b="0" i="0">
                <a:solidFill>
                  <a:srgbClr val="0F172A"/>
                </a:solidFill>
                <a:latin typeface="Arial"/>
              </a:rPr>
              <a:t> Applied strict Interquartile Range (IQR) calculations across all columns.</a:t>
            </a:r>
          </a:p>
          <a:p>
            <a:pPr>
              <a:spcAft>
                <a:spcPts val="1200"/>
              </a:spcAft>
            </a:pPr>
            <a:r>
              <a:rPr sz="1300" b="1" i="0">
                <a:solidFill>
                  <a:srgbClr val="0F172A"/>
                </a:solidFill>
                <a:latin typeface="Arial"/>
              </a:rPr>
              <a:t>Outlier Assessment:</a:t>
            </a:r>
            <a:r>
              <a:rPr sz="1300" b="0" i="0">
                <a:solidFill>
                  <a:srgbClr val="0F172A"/>
                </a:solidFill>
                <a:latin typeface="Arial"/>
              </a:rPr>
              <a:t> Discovered that high-volume 'cnt' spikes occur during peak commute seasons under superb weather, indicating real behavioral variance rather than sensor failure.</a:t>
            </a:r>
          </a:p>
          <a:p>
            <a:pPr>
              <a:spcAft>
                <a:spcPts val="1200"/>
              </a:spcAft>
            </a:pPr>
            <a:r>
              <a:rPr sz="1300" b="1" i="0">
                <a:solidFill>
                  <a:srgbClr val="0F172A"/>
                </a:solidFill>
                <a:latin typeface="Arial"/>
              </a:rPr>
              <a:t>Modeling Path:</a:t>
            </a:r>
            <a:r>
              <a:rPr sz="1300" b="0" i="0">
                <a:solidFill>
                  <a:srgbClr val="0F172A"/>
                </a:solidFill>
                <a:latin typeface="Arial"/>
              </a:rPr>
              <a:t> Confirmed standard scale normalization is required for linear baselines, whereas tree-based models naturally handle raw distributions.</a:t>
            </a:r>
          </a:p>
        </p:txBody>
      </p:sp>
      <p:pic>
        <p:nvPicPr>
          <p:cNvPr id="13" name="Picture 12">
            <a:extLst>
              <a:ext uri="{FF2B5EF4-FFF2-40B4-BE49-F238E27FC236}">
                <a16:creationId xmlns:a16="http://schemas.microsoft.com/office/drawing/2014/main" id="{C879D7DE-59CD-D4F8-6F91-BF08587681C8}"/>
              </a:ext>
            </a:extLst>
          </p:cNvPr>
          <p:cNvPicPr>
            <a:picLocks noChangeAspect="1"/>
          </p:cNvPicPr>
          <p:nvPr/>
        </p:nvPicPr>
        <p:blipFill>
          <a:blip r:embed="rId2"/>
          <a:stretch>
            <a:fillRect/>
          </a:stretch>
        </p:blipFill>
        <p:spPr>
          <a:xfrm>
            <a:off x="975797" y="2255394"/>
            <a:ext cx="4632086" cy="295668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5912" cy="731520"/>
          </a:xfrm>
          <a:prstGeom prst="rect">
            <a:avLst/>
          </a:prstGeom>
          <a:noFill/>
        </p:spPr>
        <p:txBody>
          <a:bodyPr wrap="square" lIns="0" tIns="0" rIns="0" bIns="0">
            <a:spAutoFit/>
          </a:bodyPr>
          <a:lstStyle/>
          <a:p>
            <a:r>
              <a:rPr sz="2600" b="1" i="0">
                <a:solidFill>
                  <a:srgbClr val="0F172A"/>
                </a:solidFill>
                <a:latin typeface="Georgia"/>
              </a:rPr>
              <a:t>Distribution Analysis: Target Variable Skewness</a:t>
            </a:r>
          </a:p>
        </p:txBody>
      </p:sp>
      <p:sp>
        <p:nvSpPr>
          <p:cNvPr id="3" name="Rectangle 2"/>
          <p:cNvSpPr/>
          <p:nvPr/>
        </p:nvSpPr>
        <p:spPr>
          <a:xfrm>
            <a:off x="731520" y="1051560"/>
            <a:ext cx="10725912" cy="25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0" y="6400800"/>
            <a:ext cx="731520" cy="274320"/>
          </a:xfrm>
          <a:prstGeom prst="rect">
            <a:avLst/>
          </a:prstGeom>
          <a:noFill/>
        </p:spPr>
        <p:txBody>
          <a:bodyPr wrap="square">
            <a:spAutoFit/>
          </a:bodyPr>
          <a:lstStyle/>
          <a:p>
            <a:pPr algn="r"/>
            <a:r>
              <a:rPr sz="1000" b="0" i="0">
                <a:solidFill>
                  <a:srgbClr val="64748B"/>
                </a:solidFill>
                <a:latin typeface="Arial"/>
              </a:rPr>
              <a:t>8</a:t>
            </a:r>
          </a:p>
        </p:txBody>
      </p:sp>
      <p:sp>
        <p:nvSpPr>
          <p:cNvPr id="5" name="TextBox 4"/>
          <p:cNvSpPr txBox="1"/>
          <p:nvPr/>
        </p:nvSpPr>
        <p:spPr>
          <a:xfrm>
            <a:off x="731520" y="6400800"/>
            <a:ext cx="4572000" cy="274320"/>
          </a:xfrm>
          <a:prstGeom prst="rect">
            <a:avLst/>
          </a:prstGeom>
          <a:noFill/>
        </p:spPr>
        <p:txBody>
          <a:bodyPr wrap="none">
            <a:spAutoFit/>
          </a:bodyPr>
          <a:lstStyle/>
          <a:p>
            <a:r>
              <a:rPr sz="1000" b="0" i="0">
                <a:solidFill>
                  <a:srgbClr val="64748B"/>
                </a:solidFill>
                <a:latin typeface="Arial"/>
              </a:rPr>
              <a:t>Bike Rental Demand Prediction | ML Project Presentation</a:t>
            </a:r>
          </a:p>
        </p:txBody>
      </p:sp>
      <p:sp>
        <p:nvSpPr>
          <p:cNvPr id="6" name="Rounded Rectangle 5"/>
          <p:cNvSpPr/>
          <p:nvPr/>
        </p:nvSpPr>
        <p:spPr>
          <a:xfrm>
            <a:off x="780977" y="1533407"/>
            <a:ext cx="4962723" cy="4677685"/>
          </a:xfrm>
          <a:prstGeom prst="roundRect">
            <a:avLst>
              <a:gd name="adj" fmla="val 234"/>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309360" y="1645919"/>
            <a:ext cx="5101662" cy="465952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39" y="1828800"/>
            <a:ext cx="4918783" cy="3216265"/>
          </a:xfrm>
          <a:prstGeom prst="rect">
            <a:avLst/>
          </a:prstGeom>
          <a:noFill/>
        </p:spPr>
        <p:txBody>
          <a:bodyPr wrap="square">
            <a:spAutoFit/>
          </a:bodyPr>
          <a:lstStyle/>
          <a:p>
            <a:pPr>
              <a:spcAft>
                <a:spcPts val="1200"/>
              </a:spcAft>
            </a:pPr>
            <a:r>
              <a:rPr sz="2000" b="1" i="0" dirty="0">
                <a:solidFill>
                  <a:srgbClr val="0D9488"/>
                </a:solidFill>
                <a:latin typeface="Georgia"/>
              </a:rPr>
              <a:t>Key Analytical Insights</a:t>
            </a:r>
          </a:p>
          <a:p>
            <a:pPr>
              <a:spcAft>
                <a:spcPts val="1200"/>
              </a:spcAft>
            </a:pPr>
            <a:r>
              <a:rPr sz="1300" b="1" i="0" dirty="0">
                <a:solidFill>
                  <a:srgbClr val="0F172A"/>
                </a:solidFill>
                <a:latin typeface="Arial"/>
              </a:rPr>
              <a:t>Positive Target Skewness:</a:t>
            </a:r>
            <a:r>
              <a:rPr sz="1300" b="0" i="0" dirty="0">
                <a:solidFill>
                  <a:srgbClr val="0F172A"/>
                </a:solidFill>
                <a:latin typeface="Arial"/>
              </a:rPr>
              <a:t> The target count '</a:t>
            </a:r>
            <a:r>
              <a:rPr sz="1300" b="0" i="0" dirty="0" err="1">
                <a:solidFill>
                  <a:srgbClr val="0F172A"/>
                </a:solidFill>
                <a:latin typeface="Arial"/>
              </a:rPr>
              <a:t>cnt</a:t>
            </a:r>
            <a:r>
              <a:rPr sz="1300" b="0" i="0" dirty="0">
                <a:solidFill>
                  <a:srgbClr val="0F172A"/>
                </a:solidFill>
                <a:latin typeface="Arial"/>
              </a:rPr>
              <a:t>' is heavily skewed right, with most hourly entries clustering around low counts (0-150 rentals).</a:t>
            </a:r>
          </a:p>
          <a:p>
            <a:pPr>
              <a:spcAft>
                <a:spcPts val="1200"/>
              </a:spcAft>
            </a:pPr>
            <a:r>
              <a:rPr sz="1300" b="1" i="0" dirty="0">
                <a:solidFill>
                  <a:srgbClr val="0F172A"/>
                </a:solidFill>
                <a:latin typeface="Arial"/>
              </a:rPr>
              <a:t>High-Volume Commuter Tail:</a:t>
            </a:r>
            <a:r>
              <a:rPr sz="1300" b="0" i="0" dirty="0">
                <a:solidFill>
                  <a:srgbClr val="0F172A"/>
                </a:solidFill>
                <a:latin typeface="Arial"/>
              </a:rPr>
              <a:t> Displays a highly persistent, long tail stretching out to nearly 1,000 rentals per hour.</a:t>
            </a:r>
          </a:p>
          <a:p>
            <a:pPr>
              <a:spcAft>
                <a:spcPts val="1200"/>
              </a:spcAft>
            </a:pPr>
            <a:r>
              <a:rPr sz="1300" b="1" i="0" dirty="0">
                <a:solidFill>
                  <a:srgbClr val="0F172A"/>
                </a:solidFill>
                <a:latin typeface="Arial"/>
              </a:rPr>
              <a:t>Parametric Modeling Impact:</a:t>
            </a:r>
            <a:r>
              <a:rPr sz="1300" b="0" i="0" dirty="0">
                <a:solidFill>
                  <a:srgbClr val="0F172A"/>
                </a:solidFill>
                <a:latin typeface="Arial"/>
              </a:rPr>
              <a:t> Traditional linear algorithms (assuming normal error spreads) will systematically underperform on this distribution.</a:t>
            </a:r>
          </a:p>
          <a:p>
            <a:pPr>
              <a:spcAft>
                <a:spcPts val="1200"/>
              </a:spcAft>
            </a:pPr>
            <a:r>
              <a:rPr sz="1300" b="1" i="0" dirty="0">
                <a:solidFill>
                  <a:srgbClr val="0F172A"/>
                </a:solidFill>
                <a:latin typeface="Arial"/>
              </a:rPr>
              <a:t>Tree Ensemble Justification:</a:t>
            </a:r>
            <a:r>
              <a:rPr sz="1300" b="0" i="0" dirty="0">
                <a:solidFill>
                  <a:srgbClr val="0F172A"/>
                </a:solidFill>
                <a:latin typeface="Arial"/>
              </a:rPr>
              <a:t> The skewed target distribution highlights the necessity of non-parametric tree ensembles which are immune to target scale skewness.</a:t>
            </a:r>
          </a:p>
        </p:txBody>
      </p:sp>
      <p:pic>
        <p:nvPicPr>
          <p:cNvPr id="11" name="Picture 10">
            <a:extLst>
              <a:ext uri="{FF2B5EF4-FFF2-40B4-BE49-F238E27FC236}">
                <a16:creationId xmlns:a16="http://schemas.microsoft.com/office/drawing/2014/main" id="{630FCDCA-069E-B3AF-8F47-DCDCEAEC553C}"/>
              </a:ext>
            </a:extLst>
          </p:cNvPr>
          <p:cNvPicPr>
            <a:picLocks noChangeAspect="1"/>
          </p:cNvPicPr>
          <p:nvPr/>
        </p:nvPicPr>
        <p:blipFill>
          <a:blip r:embed="rId2"/>
          <a:srcRect l="17314" t="21287" b="5333"/>
          <a:stretch>
            <a:fillRect/>
          </a:stretch>
        </p:blipFill>
        <p:spPr>
          <a:xfrm>
            <a:off x="780977" y="1551563"/>
            <a:ext cx="4962723" cy="465952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5912" cy="731520"/>
          </a:xfrm>
          <a:prstGeom prst="rect">
            <a:avLst/>
          </a:prstGeom>
          <a:noFill/>
        </p:spPr>
        <p:txBody>
          <a:bodyPr wrap="square" lIns="0" tIns="0" rIns="0" bIns="0">
            <a:spAutoFit/>
          </a:bodyPr>
          <a:lstStyle/>
          <a:p>
            <a:r>
              <a:rPr sz="2600" b="1" i="0">
                <a:solidFill>
                  <a:srgbClr val="0F172A"/>
                </a:solidFill>
                <a:latin typeface="Georgia"/>
              </a:rPr>
              <a:t>Seasonal Analysis: Macro-Temporal Fluctuations</a:t>
            </a:r>
          </a:p>
        </p:txBody>
      </p:sp>
      <p:sp>
        <p:nvSpPr>
          <p:cNvPr id="3" name="Rectangle 2"/>
          <p:cNvSpPr/>
          <p:nvPr/>
        </p:nvSpPr>
        <p:spPr>
          <a:xfrm>
            <a:off x="731520" y="1051560"/>
            <a:ext cx="10725912" cy="25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0" y="6400800"/>
            <a:ext cx="731520" cy="274320"/>
          </a:xfrm>
          <a:prstGeom prst="rect">
            <a:avLst/>
          </a:prstGeom>
          <a:noFill/>
        </p:spPr>
        <p:txBody>
          <a:bodyPr wrap="square">
            <a:spAutoFit/>
          </a:bodyPr>
          <a:lstStyle/>
          <a:p>
            <a:pPr algn="r"/>
            <a:r>
              <a:rPr sz="1000" b="0" i="0">
                <a:solidFill>
                  <a:srgbClr val="64748B"/>
                </a:solidFill>
                <a:latin typeface="Arial"/>
              </a:rPr>
              <a:t>9</a:t>
            </a:r>
          </a:p>
        </p:txBody>
      </p:sp>
      <p:sp>
        <p:nvSpPr>
          <p:cNvPr id="5" name="TextBox 4"/>
          <p:cNvSpPr txBox="1"/>
          <p:nvPr/>
        </p:nvSpPr>
        <p:spPr>
          <a:xfrm>
            <a:off x="731520" y="6400800"/>
            <a:ext cx="4572000" cy="274320"/>
          </a:xfrm>
          <a:prstGeom prst="rect">
            <a:avLst/>
          </a:prstGeom>
          <a:noFill/>
        </p:spPr>
        <p:txBody>
          <a:bodyPr wrap="none">
            <a:spAutoFit/>
          </a:bodyPr>
          <a:lstStyle/>
          <a:p>
            <a:r>
              <a:rPr sz="1000" b="0" i="0">
                <a:solidFill>
                  <a:srgbClr val="64748B"/>
                </a:solidFill>
                <a:latin typeface="Arial"/>
              </a:rPr>
              <a:t>Bike Rental Demand Prediction | ML Project Presentation</a:t>
            </a:r>
          </a:p>
        </p:txBody>
      </p:sp>
      <p:pic>
        <p:nvPicPr>
          <p:cNvPr id="13" name="Picture 12">
            <a:extLst>
              <a:ext uri="{FF2B5EF4-FFF2-40B4-BE49-F238E27FC236}">
                <a16:creationId xmlns:a16="http://schemas.microsoft.com/office/drawing/2014/main" id="{2AEDD36B-9AF8-314C-9DF6-D47D3A123FAF}"/>
              </a:ext>
            </a:extLst>
          </p:cNvPr>
          <p:cNvPicPr>
            <a:picLocks noChangeAspect="1"/>
          </p:cNvPicPr>
          <p:nvPr/>
        </p:nvPicPr>
        <p:blipFill>
          <a:blip r:embed="rId2"/>
          <a:srcRect t="7209"/>
          <a:stretch>
            <a:fillRect/>
          </a:stretch>
        </p:blipFill>
        <p:spPr>
          <a:xfrm>
            <a:off x="731520" y="1828481"/>
            <a:ext cx="3365962" cy="2930505"/>
          </a:xfrm>
          <a:prstGeom prst="rect">
            <a:avLst/>
          </a:prstGeom>
        </p:spPr>
      </p:pic>
      <p:pic>
        <p:nvPicPr>
          <p:cNvPr id="19" name="Picture 18">
            <a:extLst>
              <a:ext uri="{FF2B5EF4-FFF2-40B4-BE49-F238E27FC236}">
                <a16:creationId xmlns:a16="http://schemas.microsoft.com/office/drawing/2014/main" id="{5DFCED7C-FA76-88C9-CC1C-A117742CF807}"/>
              </a:ext>
            </a:extLst>
          </p:cNvPr>
          <p:cNvPicPr>
            <a:picLocks noChangeAspect="1"/>
          </p:cNvPicPr>
          <p:nvPr/>
        </p:nvPicPr>
        <p:blipFill>
          <a:blip r:embed="rId3"/>
          <a:stretch>
            <a:fillRect/>
          </a:stretch>
        </p:blipFill>
        <p:spPr>
          <a:xfrm>
            <a:off x="4534637" y="1881740"/>
            <a:ext cx="3365962" cy="2850454"/>
          </a:xfrm>
          <a:prstGeom prst="rect">
            <a:avLst/>
          </a:prstGeom>
        </p:spPr>
      </p:pic>
      <p:pic>
        <p:nvPicPr>
          <p:cNvPr id="21" name="Picture 20">
            <a:extLst>
              <a:ext uri="{FF2B5EF4-FFF2-40B4-BE49-F238E27FC236}">
                <a16:creationId xmlns:a16="http://schemas.microsoft.com/office/drawing/2014/main" id="{4285A959-A6B0-9D33-5D2A-DCE45E190A90}"/>
              </a:ext>
            </a:extLst>
          </p:cNvPr>
          <p:cNvPicPr>
            <a:picLocks noChangeAspect="1"/>
          </p:cNvPicPr>
          <p:nvPr/>
        </p:nvPicPr>
        <p:blipFill>
          <a:blip r:embed="rId4"/>
          <a:stretch>
            <a:fillRect/>
          </a:stretch>
        </p:blipFill>
        <p:spPr>
          <a:xfrm>
            <a:off x="8337754" y="1828480"/>
            <a:ext cx="3192722" cy="278473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CA8112DD-F9E4-E013-7AD2-86D23A03F7D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2FDE7D9-E5FD-554F-9B98-B29B732C945C}"/>
              </a:ext>
            </a:extLst>
          </p:cNvPr>
          <p:cNvSpPr txBox="1"/>
          <p:nvPr/>
        </p:nvSpPr>
        <p:spPr>
          <a:xfrm>
            <a:off x="731520" y="365760"/>
            <a:ext cx="10725912" cy="731520"/>
          </a:xfrm>
          <a:prstGeom prst="rect">
            <a:avLst/>
          </a:prstGeom>
          <a:noFill/>
        </p:spPr>
        <p:txBody>
          <a:bodyPr wrap="square" lIns="0" tIns="0" rIns="0" bIns="0">
            <a:spAutoFit/>
          </a:bodyPr>
          <a:lstStyle/>
          <a:p>
            <a:r>
              <a:rPr sz="2600" b="1" i="0">
                <a:solidFill>
                  <a:srgbClr val="0F172A"/>
                </a:solidFill>
                <a:latin typeface="Georgia"/>
              </a:rPr>
              <a:t>Seasonal Analysis: Macro-Temporal Fluctuations</a:t>
            </a:r>
          </a:p>
        </p:txBody>
      </p:sp>
      <p:sp>
        <p:nvSpPr>
          <p:cNvPr id="3" name="Rectangle 2">
            <a:extLst>
              <a:ext uri="{FF2B5EF4-FFF2-40B4-BE49-F238E27FC236}">
                <a16:creationId xmlns:a16="http://schemas.microsoft.com/office/drawing/2014/main" id="{D1D63DCB-1968-29FF-BD90-12BF01C4571D}"/>
              </a:ext>
            </a:extLst>
          </p:cNvPr>
          <p:cNvSpPr/>
          <p:nvPr/>
        </p:nvSpPr>
        <p:spPr>
          <a:xfrm>
            <a:off x="731520" y="1051560"/>
            <a:ext cx="10725912" cy="25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50651A1B-862A-4597-35E5-33AC328D9FB9}"/>
              </a:ext>
            </a:extLst>
          </p:cNvPr>
          <p:cNvSpPr txBox="1"/>
          <p:nvPr/>
        </p:nvSpPr>
        <p:spPr>
          <a:xfrm>
            <a:off x="10972800" y="6400800"/>
            <a:ext cx="731520" cy="274320"/>
          </a:xfrm>
          <a:prstGeom prst="rect">
            <a:avLst/>
          </a:prstGeom>
          <a:noFill/>
        </p:spPr>
        <p:txBody>
          <a:bodyPr wrap="square">
            <a:spAutoFit/>
          </a:bodyPr>
          <a:lstStyle/>
          <a:p>
            <a:pPr algn="r"/>
            <a:r>
              <a:rPr sz="1000" b="0" i="0">
                <a:solidFill>
                  <a:srgbClr val="64748B"/>
                </a:solidFill>
                <a:latin typeface="Arial"/>
              </a:rPr>
              <a:t>9</a:t>
            </a:r>
          </a:p>
        </p:txBody>
      </p:sp>
      <p:sp>
        <p:nvSpPr>
          <p:cNvPr id="5" name="TextBox 4">
            <a:extLst>
              <a:ext uri="{FF2B5EF4-FFF2-40B4-BE49-F238E27FC236}">
                <a16:creationId xmlns:a16="http://schemas.microsoft.com/office/drawing/2014/main" id="{335F193A-E0F2-EEC4-6DE0-B8B0C804BDAE}"/>
              </a:ext>
            </a:extLst>
          </p:cNvPr>
          <p:cNvSpPr txBox="1"/>
          <p:nvPr/>
        </p:nvSpPr>
        <p:spPr>
          <a:xfrm>
            <a:off x="731520" y="6400800"/>
            <a:ext cx="4572000" cy="274320"/>
          </a:xfrm>
          <a:prstGeom prst="rect">
            <a:avLst/>
          </a:prstGeom>
          <a:noFill/>
        </p:spPr>
        <p:txBody>
          <a:bodyPr wrap="none">
            <a:spAutoFit/>
          </a:bodyPr>
          <a:lstStyle/>
          <a:p>
            <a:r>
              <a:rPr sz="1000" b="0" i="0">
                <a:solidFill>
                  <a:srgbClr val="64748B"/>
                </a:solidFill>
                <a:latin typeface="Arial"/>
              </a:rPr>
              <a:t>Bike Rental Demand Prediction | ML Project Presentation</a:t>
            </a:r>
          </a:p>
        </p:txBody>
      </p:sp>
      <p:sp>
        <p:nvSpPr>
          <p:cNvPr id="7" name="Rounded Rectangle 7">
            <a:extLst>
              <a:ext uri="{FF2B5EF4-FFF2-40B4-BE49-F238E27FC236}">
                <a16:creationId xmlns:a16="http://schemas.microsoft.com/office/drawing/2014/main" id="{2BB90AA4-2C28-F56F-D732-E3A7718FC6CB}"/>
              </a:ext>
            </a:extLst>
          </p:cNvPr>
          <p:cNvSpPr/>
          <p:nvPr/>
        </p:nvSpPr>
        <p:spPr>
          <a:xfrm>
            <a:off x="2251587" y="1691149"/>
            <a:ext cx="7649497" cy="376575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spcAft>
                <a:spcPts val="1200"/>
              </a:spcAft>
            </a:pPr>
            <a:r>
              <a:rPr lang="en-US" sz="1400" b="1" dirty="0">
                <a:solidFill>
                  <a:srgbClr val="0D9488"/>
                </a:solidFill>
                <a:latin typeface="Georgia"/>
              </a:rPr>
              <a:t>Key Analytical Insights</a:t>
            </a:r>
          </a:p>
          <a:p>
            <a:pPr>
              <a:spcAft>
                <a:spcPts val="1200"/>
              </a:spcAft>
            </a:pPr>
            <a:r>
              <a:rPr lang="en-US" sz="1400" b="1" dirty="0">
                <a:solidFill>
                  <a:srgbClr val="0F172A"/>
                </a:solidFill>
                <a:latin typeface="Arial"/>
              </a:rPr>
              <a:t>Seasonal Demand Shocks:</a:t>
            </a:r>
            <a:r>
              <a:rPr lang="en-US" sz="1400" dirty="0">
                <a:solidFill>
                  <a:srgbClr val="0F172A"/>
                </a:solidFill>
                <a:latin typeface="Arial"/>
              </a:rPr>
              <a:t> Clear seasonal patterns exist, peaking in Fall (~210/</a:t>
            </a:r>
            <a:r>
              <a:rPr lang="en-US" sz="1400" dirty="0" err="1">
                <a:solidFill>
                  <a:srgbClr val="0F172A"/>
                </a:solidFill>
                <a:latin typeface="Arial"/>
              </a:rPr>
              <a:t>hr</a:t>
            </a:r>
            <a:r>
              <a:rPr lang="en-US" sz="1400" dirty="0">
                <a:solidFill>
                  <a:srgbClr val="0F172A"/>
                </a:solidFill>
                <a:latin typeface="Arial"/>
              </a:rPr>
              <a:t>) and Summer (~200/</a:t>
            </a:r>
            <a:r>
              <a:rPr lang="en-US" sz="1400" dirty="0" err="1">
                <a:solidFill>
                  <a:srgbClr val="0F172A"/>
                </a:solidFill>
                <a:latin typeface="Arial"/>
              </a:rPr>
              <a:t>hr</a:t>
            </a:r>
            <a:r>
              <a:rPr lang="en-US" sz="1400" dirty="0">
                <a:solidFill>
                  <a:srgbClr val="0F172A"/>
                </a:solidFill>
                <a:latin typeface="Arial"/>
              </a:rPr>
              <a:t>) while contracting heavily in Spring (~110/</a:t>
            </a:r>
            <a:r>
              <a:rPr lang="en-US" sz="1400" dirty="0" err="1">
                <a:solidFill>
                  <a:srgbClr val="0F172A"/>
                </a:solidFill>
                <a:latin typeface="Arial"/>
              </a:rPr>
              <a:t>hr</a:t>
            </a:r>
            <a:r>
              <a:rPr lang="en-US" sz="1400" dirty="0">
                <a:solidFill>
                  <a:srgbClr val="0F172A"/>
                </a:solidFill>
                <a:latin typeface="Arial"/>
              </a:rPr>
              <a:t>).</a:t>
            </a:r>
          </a:p>
          <a:p>
            <a:pPr>
              <a:spcAft>
                <a:spcPts val="1200"/>
              </a:spcAft>
            </a:pPr>
            <a:r>
              <a:rPr lang="en-US" sz="1400" b="1" dirty="0">
                <a:solidFill>
                  <a:srgbClr val="0F172A"/>
                </a:solidFill>
                <a:latin typeface="Arial"/>
              </a:rPr>
              <a:t>The Monthly Progression:</a:t>
            </a:r>
            <a:r>
              <a:rPr lang="en-US" sz="1400" dirty="0">
                <a:solidFill>
                  <a:srgbClr val="0F172A"/>
                </a:solidFill>
                <a:latin typeface="Arial"/>
              </a:rPr>
              <a:t> Demand exhibits a steady uphill climb starting in January (~90), plateauing highly from June to September (~235/</a:t>
            </a:r>
            <a:r>
              <a:rPr lang="en-US" sz="1400" dirty="0" err="1">
                <a:solidFill>
                  <a:srgbClr val="0F172A"/>
                </a:solidFill>
                <a:latin typeface="Arial"/>
              </a:rPr>
              <a:t>hr</a:t>
            </a:r>
            <a:r>
              <a:rPr lang="en-US" sz="1400" dirty="0">
                <a:solidFill>
                  <a:srgbClr val="0F172A"/>
                </a:solidFill>
                <a:latin typeface="Arial"/>
              </a:rPr>
              <a:t>).</a:t>
            </a:r>
          </a:p>
          <a:p>
            <a:pPr>
              <a:spcAft>
                <a:spcPts val="1200"/>
              </a:spcAft>
            </a:pPr>
            <a:r>
              <a:rPr lang="en-US" sz="1400" b="1" dirty="0">
                <a:solidFill>
                  <a:srgbClr val="0F172A"/>
                </a:solidFill>
                <a:latin typeface="Arial"/>
              </a:rPr>
              <a:t>Year-Over-Year Surges:</a:t>
            </a:r>
            <a:r>
              <a:rPr lang="en-US" sz="1400" dirty="0">
                <a:solidFill>
                  <a:srgbClr val="0F172A"/>
                </a:solidFill>
                <a:latin typeface="Arial"/>
              </a:rPr>
              <a:t> Average hourly rentals climbed ~62% from 2011 (~145/</a:t>
            </a:r>
            <a:r>
              <a:rPr lang="en-US" sz="1400" dirty="0" err="1">
                <a:solidFill>
                  <a:srgbClr val="0F172A"/>
                </a:solidFill>
                <a:latin typeface="Arial"/>
              </a:rPr>
              <a:t>hr</a:t>
            </a:r>
            <a:r>
              <a:rPr lang="en-US" sz="1400" dirty="0">
                <a:solidFill>
                  <a:srgbClr val="0F172A"/>
                </a:solidFill>
                <a:latin typeface="Arial"/>
              </a:rPr>
              <a:t>) to 2012 (~235/</a:t>
            </a:r>
            <a:r>
              <a:rPr lang="en-US" sz="1400" dirty="0" err="1">
                <a:solidFill>
                  <a:srgbClr val="0F172A"/>
                </a:solidFill>
                <a:latin typeface="Arial"/>
              </a:rPr>
              <a:t>hr</a:t>
            </a:r>
            <a:r>
              <a:rPr lang="en-US" sz="1400" dirty="0">
                <a:solidFill>
                  <a:srgbClr val="0F172A"/>
                </a:solidFill>
                <a:latin typeface="Arial"/>
              </a:rPr>
              <a:t>), indicating rapid expansion.</a:t>
            </a:r>
          </a:p>
          <a:p>
            <a:pPr>
              <a:spcAft>
                <a:spcPts val="1200"/>
              </a:spcAft>
            </a:pPr>
            <a:r>
              <a:rPr lang="en-US" sz="1400" b="1" dirty="0">
                <a:solidFill>
                  <a:srgbClr val="0F172A"/>
                </a:solidFill>
                <a:latin typeface="Arial"/>
              </a:rPr>
              <a:t>Operational Action:</a:t>
            </a:r>
            <a:r>
              <a:rPr lang="en-US" sz="1400" dirty="0">
                <a:solidFill>
                  <a:srgbClr val="0F172A"/>
                </a:solidFill>
                <a:latin typeface="Arial"/>
              </a:rPr>
              <a:t> Expanding maintenance budgets in winter and scaling fleet supply in summer is mathematically justified.</a:t>
            </a:r>
          </a:p>
        </p:txBody>
      </p:sp>
    </p:spTree>
    <p:extLst>
      <p:ext uri="{BB962C8B-B14F-4D97-AF65-F5344CB8AC3E}">
        <p14:creationId xmlns:p14="http://schemas.microsoft.com/office/powerpoint/2010/main" val="31477103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09611FF2-2B57-78F9-4032-92F5D87E889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D2886E5-B399-C2BC-0B38-6E2C2BCBDC3D}"/>
              </a:ext>
            </a:extLst>
          </p:cNvPr>
          <p:cNvSpPr/>
          <p:nvPr/>
        </p:nvSpPr>
        <p:spPr>
          <a:xfrm>
            <a:off x="731520" y="1051560"/>
            <a:ext cx="10725912" cy="25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5C11E9D0-325B-58F2-C3F6-7ABBF1F848A9}"/>
              </a:ext>
            </a:extLst>
          </p:cNvPr>
          <p:cNvSpPr txBox="1"/>
          <p:nvPr/>
        </p:nvSpPr>
        <p:spPr>
          <a:xfrm>
            <a:off x="10972800" y="6400800"/>
            <a:ext cx="731520" cy="274320"/>
          </a:xfrm>
          <a:prstGeom prst="rect">
            <a:avLst/>
          </a:prstGeom>
          <a:noFill/>
        </p:spPr>
        <p:txBody>
          <a:bodyPr wrap="square">
            <a:spAutoFit/>
          </a:bodyPr>
          <a:lstStyle/>
          <a:p>
            <a:pPr algn="r"/>
            <a:r>
              <a:rPr sz="1000" b="0" i="0">
                <a:solidFill>
                  <a:srgbClr val="64748B"/>
                </a:solidFill>
                <a:latin typeface="Arial"/>
              </a:rPr>
              <a:t>10</a:t>
            </a:r>
          </a:p>
        </p:txBody>
      </p:sp>
      <p:sp>
        <p:nvSpPr>
          <p:cNvPr id="15" name="TextBox 14">
            <a:extLst>
              <a:ext uri="{FF2B5EF4-FFF2-40B4-BE49-F238E27FC236}">
                <a16:creationId xmlns:a16="http://schemas.microsoft.com/office/drawing/2014/main" id="{6802817B-BA5E-806E-9C0F-B703936DAEAD}"/>
              </a:ext>
            </a:extLst>
          </p:cNvPr>
          <p:cNvSpPr txBox="1"/>
          <p:nvPr/>
        </p:nvSpPr>
        <p:spPr>
          <a:xfrm>
            <a:off x="740664" y="375349"/>
            <a:ext cx="10561320" cy="492443"/>
          </a:xfrm>
          <a:prstGeom prst="rect">
            <a:avLst/>
          </a:prstGeom>
          <a:noFill/>
        </p:spPr>
        <p:txBody>
          <a:bodyPr wrap="square">
            <a:spAutoFit/>
          </a:bodyPr>
          <a:lstStyle/>
          <a:p>
            <a:r>
              <a:rPr lang="en-US" sz="2600" b="1" i="0" dirty="0">
                <a:solidFill>
                  <a:srgbClr val="0F172A"/>
                </a:solidFill>
                <a:latin typeface="Georgia"/>
              </a:rPr>
              <a:t>Weather Analysis: Quantifying Meteorological Impacts</a:t>
            </a:r>
          </a:p>
        </p:txBody>
      </p:sp>
      <p:pic>
        <p:nvPicPr>
          <p:cNvPr id="14" name="Picture 13">
            <a:extLst>
              <a:ext uri="{FF2B5EF4-FFF2-40B4-BE49-F238E27FC236}">
                <a16:creationId xmlns:a16="http://schemas.microsoft.com/office/drawing/2014/main" id="{B99E67CD-CAE2-2F70-6557-90F6531284AD}"/>
              </a:ext>
            </a:extLst>
          </p:cNvPr>
          <p:cNvPicPr>
            <a:picLocks noChangeAspect="1"/>
          </p:cNvPicPr>
          <p:nvPr/>
        </p:nvPicPr>
        <p:blipFill>
          <a:blip r:embed="rId2"/>
          <a:stretch>
            <a:fillRect/>
          </a:stretch>
        </p:blipFill>
        <p:spPr>
          <a:xfrm>
            <a:off x="2998838" y="1399063"/>
            <a:ext cx="6275291" cy="4792569"/>
          </a:xfrm>
          <a:prstGeom prst="rect">
            <a:avLst/>
          </a:prstGeom>
        </p:spPr>
      </p:pic>
    </p:spTree>
    <p:extLst>
      <p:ext uri="{BB962C8B-B14F-4D97-AF65-F5344CB8AC3E}">
        <p14:creationId xmlns:p14="http://schemas.microsoft.com/office/powerpoint/2010/main" val="27200548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 name="Rectangle 2"/>
          <p:cNvSpPr/>
          <p:nvPr/>
        </p:nvSpPr>
        <p:spPr>
          <a:xfrm>
            <a:off x="731520" y="1051560"/>
            <a:ext cx="10725912" cy="25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0" y="6400800"/>
            <a:ext cx="731520" cy="274320"/>
          </a:xfrm>
          <a:prstGeom prst="rect">
            <a:avLst/>
          </a:prstGeom>
          <a:noFill/>
        </p:spPr>
        <p:txBody>
          <a:bodyPr wrap="square">
            <a:spAutoFit/>
          </a:bodyPr>
          <a:lstStyle/>
          <a:p>
            <a:pPr algn="r"/>
            <a:r>
              <a:rPr sz="1000" b="0" i="0">
                <a:solidFill>
                  <a:srgbClr val="64748B"/>
                </a:solidFill>
                <a:latin typeface="Arial"/>
              </a:rPr>
              <a:t>10</a:t>
            </a:r>
          </a:p>
        </p:txBody>
      </p:sp>
      <p:sp>
        <p:nvSpPr>
          <p:cNvPr id="5" name="TextBox 4"/>
          <p:cNvSpPr txBox="1"/>
          <p:nvPr/>
        </p:nvSpPr>
        <p:spPr>
          <a:xfrm>
            <a:off x="731520" y="6400800"/>
            <a:ext cx="4572000" cy="274320"/>
          </a:xfrm>
          <a:prstGeom prst="rect">
            <a:avLst/>
          </a:prstGeom>
          <a:noFill/>
        </p:spPr>
        <p:txBody>
          <a:bodyPr wrap="none">
            <a:spAutoFit/>
          </a:bodyPr>
          <a:lstStyle/>
          <a:p>
            <a:r>
              <a:rPr sz="1000" b="0" i="0">
                <a:solidFill>
                  <a:srgbClr val="64748B"/>
                </a:solidFill>
                <a:latin typeface="Arial"/>
              </a:rPr>
              <a:t>Bike Rental Demand Prediction | ML Project Presentation</a:t>
            </a:r>
          </a:p>
        </p:txBody>
      </p:sp>
      <p:sp>
        <p:nvSpPr>
          <p:cNvPr id="6" name="Rounded Rectangle 5"/>
          <p:cNvSpPr/>
          <p:nvPr/>
        </p:nvSpPr>
        <p:spPr>
          <a:xfrm>
            <a:off x="740664" y="1645920"/>
            <a:ext cx="2468880" cy="4114800"/>
          </a:xfrm>
          <a:prstGeom prst="roundRect">
            <a:avLst/>
          </a:prstGeom>
          <a:solidFill>
            <a:srgbClr val="F0FDFA"/>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77824" y="1828800"/>
            <a:ext cx="2194560" cy="1667123"/>
          </a:xfrm>
          <a:prstGeom prst="rect">
            <a:avLst/>
          </a:prstGeom>
          <a:noFill/>
        </p:spPr>
        <p:txBody>
          <a:bodyPr wrap="square">
            <a:spAutoFit/>
          </a:bodyPr>
          <a:lstStyle/>
          <a:p>
            <a:pPr>
              <a:spcAft>
                <a:spcPts val="1200"/>
              </a:spcAft>
            </a:pPr>
            <a:r>
              <a:rPr b="1" i="0" dirty="0">
                <a:solidFill>
                  <a:srgbClr val="0D9488"/>
                </a:solidFill>
                <a:latin typeface="Georgia"/>
              </a:rPr>
              <a:t>Clear Weather</a:t>
            </a:r>
          </a:p>
          <a:p>
            <a:pPr>
              <a:spcAft>
                <a:spcPts val="1000"/>
              </a:spcAft>
            </a:pPr>
            <a:r>
              <a:rPr sz="1100" b="1" i="0" dirty="0">
                <a:solidFill>
                  <a:srgbClr val="0F172A"/>
                </a:solidFill>
                <a:latin typeface="Arial"/>
              </a:rPr>
              <a:t>Highest Activity:</a:t>
            </a:r>
            <a:r>
              <a:rPr sz="1100" b="0" i="0" dirty="0">
                <a:solidFill>
                  <a:srgbClr val="0F172A"/>
                </a:solidFill>
                <a:latin typeface="Arial"/>
              </a:rPr>
              <a:t> Average demand reaches ~205/hour.</a:t>
            </a:r>
          </a:p>
          <a:p>
            <a:pPr>
              <a:spcAft>
                <a:spcPts val="1000"/>
              </a:spcAft>
            </a:pPr>
            <a:r>
              <a:rPr sz="1100" b="1" i="0" dirty="0">
                <a:solidFill>
                  <a:srgbClr val="0F172A"/>
                </a:solidFill>
                <a:latin typeface="Arial"/>
              </a:rPr>
              <a:t>Drivers:</a:t>
            </a:r>
            <a:r>
              <a:rPr sz="1100" b="0" i="0" dirty="0">
                <a:solidFill>
                  <a:srgbClr val="0F172A"/>
                </a:solidFill>
                <a:latin typeface="Arial"/>
              </a:rPr>
              <a:t> Perfect thermal conditions and clear skies maximize both recreational and utility ridership.</a:t>
            </a:r>
          </a:p>
        </p:txBody>
      </p:sp>
      <p:sp>
        <p:nvSpPr>
          <p:cNvPr id="8" name="Rounded Rectangle 7"/>
          <p:cNvSpPr/>
          <p:nvPr/>
        </p:nvSpPr>
        <p:spPr>
          <a:xfrm>
            <a:off x="3483864" y="1636088"/>
            <a:ext cx="246888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21024" y="1828800"/>
            <a:ext cx="2194560" cy="1636345"/>
          </a:xfrm>
          <a:prstGeom prst="rect">
            <a:avLst/>
          </a:prstGeom>
          <a:noFill/>
        </p:spPr>
        <p:txBody>
          <a:bodyPr wrap="square">
            <a:spAutoFit/>
          </a:bodyPr>
          <a:lstStyle/>
          <a:p>
            <a:pPr>
              <a:spcAft>
                <a:spcPts val="1200"/>
              </a:spcAft>
            </a:pPr>
            <a:r>
              <a:rPr sz="1600" b="1" i="0" dirty="0">
                <a:solidFill>
                  <a:schemeClr val="bg2">
                    <a:lumMod val="25000"/>
                  </a:schemeClr>
                </a:solidFill>
                <a:latin typeface="Georgia"/>
              </a:rPr>
              <a:t>Mist </a:t>
            </a:r>
          </a:p>
          <a:p>
            <a:pPr>
              <a:spcAft>
                <a:spcPts val="1000"/>
              </a:spcAft>
            </a:pPr>
            <a:r>
              <a:rPr sz="1100" b="1" i="0" dirty="0">
                <a:solidFill>
                  <a:srgbClr val="0F172A"/>
                </a:solidFill>
                <a:latin typeface="Arial"/>
              </a:rPr>
              <a:t>Moderate Activity:</a:t>
            </a:r>
            <a:r>
              <a:rPr sz="1100" b="0" i="0" dirty="0">
                <a:solidFill>
                  <a:srgbClr val="0F172A"/>
                </a:solidFill>
                <a:latin typeface="Arial"/>
              </a:rPr>
              <a:t> Average demand contracts slightly to ~175/hour.</a:t>
            </a:r>
          </a:p>
          <a:p>
            <a:pPr>
              <a:spcAft>
                <a:spcPts val="1000"/>
              </a:spcAft>
            </a:pPr>
            <a:r>
              <a:rPr sz="1100" b="1" i="0" dirty="0">
                <a:solidFill>
                  <a:srgbClr val="0F172A"/>
                </a:solidFill>
                <a:latin typeface="Arial"/>
              </a:rPr>
              <a:t>Drivers:</a:t>
            </a:r>
            <a:r>
              <a:rPr sz="1100" b="0" i="0" dirty="0">
                <a:solidFill>
                  <a:srgbClr val="0F172A"/>
                </a:solidFill>
                <a:latin typeface="Arial"/>
              </a:rPr>
              <a:t> Minimal impact on daily work commute schedules; leisure riding slightly drops.</a:t>
            </a:r>
          </a:p>
        </p:txBody>
      </p:sp>
      <p:sp>
        <p:nvSpPr>
          <p:cNvPr id="10" name="Rounded Rectangle 9"/>
          <p:cNvSpPr/>
          <p:nvPr/>
        </p:nvSpPr>
        <p:spPr>
          <a:xfrm>
            <a:off x="6227064" y="1645920"/>
            <a:ext cx="246888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64224" y="1828800"/>
            <a:ext cx="2194560" cy="1805623"/>
          </a:xfrm>
          <a:prstGeom prst="rect">
            <a:avLst/>
          </a:prstGeom>
          <a:noFill/>
        </p:spPr>
        <p:txBody>
          <a:bodyPr wrap="square">
            <a:spAutoFit/>
          </a:bodyPr>
          <a:lstStyle/>
          <a:p>
            <a:pPr>
              <a:spcAft>
                <a:spcPts val="1200"/>
              </a:spcAft>
            </a:pPr>
            <a:r>
              <a:rPr sz="1600" b="1" i="0" dirty="0">
                <a:solidFill>
                  <a:schemeClr val="bg2">
                    <a:lumMod val="25000"/>
                  </a:schemeClr>
                </a:solidFill>
                <a:latin typeface="Georgia"/>
              </a:rPr>
              <a:t>Light  Snow</a:t>
            </a:r>
          </a:p>
          <a:p>
            <a:pPr>
              <a:spcAft>
                <a:spcPts val="1000"/>
              </a:spcAft>
            </a:pPr>
            <a:r>
              <a:rPr sz="1100" b="1" i="0" dirty="0">
                <a:solidFill>
                  <a:srgbClr val="0F172A"/>
                </a:solidFill>
                <a:latin typeface="Arial"/>
              </a:rPr>
              <a:t>Severe Decline:</a:t>
            </a:r>
            <a:r>
              <a:rPr sz="1100" b="0" i="0" dirty="0">
                <a:solidFill>
                  <a:srgbClr val="0F172A"/>
                </a:solidFill>
                <a:latin typeface="Arial"/>
              </a:rPr>
              <a:t> Average demand drops heavily to ~110/hour.</a:t>
            </a:r>
          </a:p>
          <a:p>
            <a:pPr>
              <a:spcAft>
                <a:spcPts val="1000"/>
              </a:spcAft>
            </a:pPr>
            <a:r>
              <a:rPr sz="1100" b="1" i="0" dirty="0">
                <a:solidFill>
                  <a:srgbClr val="0F172A"/>
                </a:solidFill>
                <a:latin typeface="Arial"/>
              </a:rPr>
              <a:t>Drivers:</a:t>
            </a:r>
            <a:r>
              <a:rPr sz="1100" b="0" i="0" dirty="0">
                <a:solidFill>
                  <a:srgbClr val="0F172A"/>
                </a:solidFill>
                <a:latin typeface="Arial"/>
              </a:rPr>
              <a:t> Cold rain and light snow prompt users to switch immediately to indoor public transit.</a:t>
            </a:r>
          </a:p>
        </p:txBody>
      </p:sp>
      <p:sp>
        <p:nvSpPr>
          <p:cNvPr id="12" name="Rounded Rectangle 11"/>
          <p:cNvSpPr/>
          <p:nvPr/>
        </p:nvSpPr>
        <p:spPr>
          <a:xfrm>
            <a:off x="8970264" y="1645920"/>
            <a:ext cx="2468880" cy="4114800"/>
          </a:xfrm>
          <a:prstGeom prst="roundRect">
            <a:avLst/>
          </a:prstGeom>
          <a:solidFill>
            <a:srgbClr val="FFF7ED"/>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07424" y="1828800"/>
            <a:ext cx="2194560" cy="1636345"/>
          </a:xfrm>
          <a:prstGeom prst="rect">
            <a:avLst/>
          </a:prstGeom>
          <a:noFill/>
        </p:spPr>
        <p:txBody>
          <a:bodyPr wrap="square">
            <a:spAutoFit/>
          </a:bodyPr>
          <a:lstStyle/>
          <a:p>
            <a:pPr>
              <a:spcAft>
                <a:spcPts val="1200"/>
              </a:spcAft>
            </a:pPr>
            <a:r>
              <a:rPr lang="en-US" sz="1600" b="1" i="0" dirty="0">
                <a:solidFill>
                  <a:srgbClr val="EA580C"/>
                </a:solidFill>
                <a:latin typeface="Georgia"/>
              </a:rPr>
              <a:t>Heavy Rain</a:t>
            </a:r>
            <a:endParaRPr sz="1600" b="1" i="0" dirty="0">
              <a:solidFill>
                <a:srgbClr val="EA580C"/>
              </a:solidFill>
              <a:latin typeface="Georgia"/>
            </a:endParaRPr>
          </a:p>
          <a:p>
            <a:pPr>
              <a:spcAft>
                <a:spcPts val="1000"/>
              </a:spcAft>
            </a:pPr>
            <a:r>
              <a:rPr sz="1100" b="1" i="0" dirty="0">
                <a:solidFill>
                  <a:srgbClr val="0F172A"/>
                </a:solidFill>
                <a:latin typeface="Arial"/>
              </a:rPr>
              <a:t>Demand Collapse:</a:t>
            </a:r>
            <a:r>
              <a:rPr sz="1100" b="0" i="0" dirty="0">
                <a:solidFill>
                  <a:srgbClr val="0F172A"/>
                </a:solidFill>
                <a:latin typeface="Arial"/>
              </a:rPr>
              <a:t> Average demand plunges to a minimum ~75/hour.</a:t>
            </a:r>
          </a:p>
          <a:p>
            <a:pPr>
              <a:spcAft>
                <a:spcPts val="1000"/>
              </a:spcAft>
            </a:pPr>
            <a:r>
              <a:rPr sz="1100" b="1" i="0" dirty="0">
                <a:solidFill>
                  <a:srgbClr val="0F172A"/>
                </a:solidFill>
                <a:latin typeface="Arial"/>
              </a:rPr>
              <a:t>Drivers:</a:t>
            </a:r>
            <a:r>
              <a:rPr sz="1100" b="0" i="0" dirty="0">
                <a:solidFill>
                  <a:srgbClr val="0F172A"/>
                </a:solidFill>
                <a:latin typeface="Arial"/>
              </a:rPr>
              <a:t> Extreme high variance. Heavy rain or blizzards halt bike logistics completely.</a:t>
            </a:r>
          </a:p>
        </p:txBody>
      </p:sp>
      <p:sp>
        <p:nvSpPr>
          <p:cNvPr id="15" name="TextBox 14">
            <a:extLst>
              <a:ext uri="{FF2B5EF4-FFF2-40B4-BE49-F238E27FC236}">
                <a16:creationId xmlns:a16="http://schemas.microsoft.com/office/drawing/2014/main" id="{68045DC7-F528-2236-6D65-72A73AC9B2B7}"/>
              </a:ext>
            </a:extLst>
          </p:cNvPr>
          <p:cNvSpPr txBox="1"/>
          <p:nvPr/>
        </p:nvSpPr>
        <p:spPr>
          <a:xfrm>
            <a:off x="740664" y="375349"/>
            <a:ext cx="10561320" cy="492443"/>
          </a:xfrm>
          <a:prstGeom prst="rect">
            <a:avLst/>
          </a:prstGeom>
          <a:noFill/>
        </p:spPr>
        <p:txBody>
          <a:bodyPr wrap="square">
            <a:spAutoFit/>
          </a:bodyPr>
          <a:lstStyle/>
          <a:p>
            <a:r>
              <a:rPr lang="en-US" sz="2600" b="1" i="0" dirty="0">
                <a:solidFill>
                  <a:srgbClr val="0F172A"/>
                </a:solidFill>
                <a:latin typeface="Georgia"/>
              </a:rPr>
              <a:t>Weather Analysis: Quantifying Meteorological Impacts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551B022C-C322-DFDB-3C0B-769F1654F26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B457715-70B4-9D13-BA84-99A820D7BBFA}"/>
              </a:ext>
            </a:extLst>
          </p:cNvPr>
          <p:cNvSpPr/>
          <p:nvPr/>
        </p:nvSpPr>
        <p:spPr>
          <a:xfrm>
            <a:off x="731520" y="1051560"/>
            <a:ext cx="10725912" cy="25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E9FC72A0-B740-0180-79B8-CAF354B49814}"/>
              </a:ext>
            </a:extLst>
          </p:cNvPr>
          <p:cNvSpPr txBox="1"/>
          <p:nvPr/>
        </p:nvSpPr>
        <p:spPr>
          <a:xfrm>
            <a:off x="10972800" y="6400800"/>
            <a:ext cx="731520" cy="274320"/>
          </a:xfrm>
          <a:prstGeom prst="rect">
            <a:avLst/>
          </a:prstGeom>
          <a:noFill/>
        </p:spPr>
        <p:txBody>
          <a:bodyPr wrap="square">
            <a:spAutoFit/>
          </a:bodyPr>
          <a:lstStyle/>
          <a:p>
            <a:pPr algn="r"/>
            <a:r>
              <a:rPr sz="1000" b="0" i="0">
                <a:solidFill>
                  <a:srgbClr val="64748B"/>
                </a:solidFill>
                <a:latin typeface="Arial"/>
              </a:rPr>
              <a:t>10</a:t>
            </a:r>
          </a:p>
        </p:txBody>
      </p:sp>
      <p:sp>
        <p:nvSpPr>
          <p:cNvPr id="5" name="TextBox 4">
            <a:extLst>
              <a:ext uri="{FF2B5EF4-FFF2-40B4-BE49-F238E27FC236}">
                <a16:creationId xmlns:a16="http://schemas.microsoft.com/office/drawing/2014/main" id="{521F6D05-5BD3-B1A0-B8F5-5D7B70A1A410}"/>
              </a:ext>
            </a:extLst>
          </p:cNvPr>
          <p:cNvSpPr txBox="1"/>
          <p:nvPr/>
        </p:nvSpPr>
        <p:spPr>
          <a:xfrm>
            <a:off x="731520" y="6400800"/>
            <a:ext cx="4572000" cy="274320"/>
          </a:xfrm>
          <a:prstGeom prst="rect">
            <a:avLst/>
          </a:prstGeom>
          <a:noFill/>
        </p:spPr>
        <p:txBody>
          <a:bodyPr wrap="none">
            <a:spAutoFit/>
          </a:bodyPr>
          <a:lstStyle/>
          <a:p>
            <a:r>
              <a:rPr sz="1000" b="0" i="0">
                <a:solidFill>
                  <a:srgbClr val="64748B"/>
                </a:solidFill>
                <a:latin typeface="Arial"/>
              </a:rPr>
              <a:t>Bike Rental Demand Prediction | ML Project Presentation</a:t>
            </a:r>
          </a:p>
        </p:txBody>
      </p:sp>
      <p:sp>
        <p:nvSpPr>
          <p:cNvPr id="15" name="TextBox 14">
            <a:extLst>
              <a:ext uri="{FF2B5EF4-FFF2-40B4-BE49-F238E27FC236}">
                <a16:creationId xmlns:a16="http://schemas.microsoft.com/office/drawing/2014/main" id="{5410BFC9-F542-10EF-742F-BF712EF9A494}"/>
              </a:ext>
            </a:extLst>
          </p:cNvPr>
          <p:cNvSpPr txBox="1"/>
          <p:nvPr/>
        </p:nvSpPr>
        <p:spPr>
          <a:xfrm>
            <a:off x="740664" y="375349"/>
            <a:ext cx="10561320" cy="492443"/>
          </a:xfrm>
          <a:prstGeom prst="rect">
            <a:avLst/>
          </a:prstGeom>
          <a:noFill/>
        </p:spPr>
        <p:txBody>
          <a:bodyPr wrap="square">
            <a:spAutoFit/>
          </a:bodyPr>
          <a:lstStyle/>
          <a:p>
            <a:r>
              <a:rPr lang="en-US" sz="2600" b="1" dirty="0">
                <a:solidFill>
                  <a:srgbClr val="0F172A"/>
                </a:solidFill>
                <a:latin typeface="Georgia"/>
              </a:rPr>
              <a:t>Time series Analysis</a:t>
            </a:r>
            <a:r>
              <a:rPr lang="en-US" sz="2600" b="1" i="0" dirty="0">
                <a:solidFill>
                  <a:srgbClr val="0F172A"/>
                </a:solidFill>
                <a:latin typeface="Georgia"/>
              </a:rPr>
              <a:t>:</a:t>
            </a:r>
          </a:p>
        </p:txBody>
      </p:sp>
      <p:pic>
        <p:nvPicPr>
          <p:cNvPr id="14" name="Picture 13">
            <a:extLst>
              <a:ext uri="{FF2B5EF4-FFF2-40B4-BE49-F238E27FC236}">
                <a16:creationId xmlns:a16="http://schemas.microsoft.com/office/drawing/2014/main" id="{086BE4C4-BC0F-B8BB-328B-EF3776C2EC00}"/>
              </a:ext>
            </a:extLst>
          </p:cNvPr>
          <p:cNvPicPr>
            <a:picLocks noChangeAspect="1"/>
          </p:cNvPicPr>
          <p:nvPr/>
        </p:nvPicPr>
        <p:blipFill>
          <a:blip r:embed="rId2"/>
          <a:stretch>
            <a:fillRect/>
          </a:stretch>
        </p:blipFill>
        <p:spPr>
          <a:xfrm>
            <a:off x="1119709" y="1436197"/>
            <a:ext cx="9952582" cy="3985605"/>
          </a:xfrm>
          <a:prstGeom prst="rect">
            <a:avLst/>
          </a:prstGeom>
        </p:spPr>
      </p:pic>
    </p:spTree>
    <p:extLst>
      <p:ext uri="{BB962C8B-B14F-4D97-AF65-F5344CB8AC3E}">
        <p14:creationId xmlns:p14="http://schemas.microsoft.com/office/powerpoint/2010/main" val="30383437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5912" cy="731520"/>
          </a:xfrm>
          <a:prstGeom prst="rect">
            <a:avLst/>
          </a:prstGeom>
          <a:noFill/>
        </p:spPr>
        <p:txBody>
          <a:bodyPr wrap="square" lIns="0" tIns="0" rIns="0" bIns="0">
            <a:spAutoFit/>
          </a:bodyPr>
          <a:lstStyle/>
          <a:p>
            <a:r>
              <a:rPr sz="2600" b="1" i="0">
                <a:solidFill>
                  <a:srgbClr val="0F172A"/>
                </a:solidFill>
                <a:latin typeface="Georgia"/>
              </a:rPr>
              <a:t>Correlation Analysis: Core Drivers &amp; Multicollinearity</a:t>
            </a:r>
          </a:p>
        </p:txBody>
      </p:sp>
      <p:sp>
        <p:nvSpPr>
          <p:cNvPr id="3" name="Rectangle 2"/>
          <p:cNvSpPr/>
          <p:nvPr/>
        </p:nvSpPr>
        <p:spPr>
          <a:xfrm>
            <a:off x="731520" y="1051560"/>
            <a:ext cx="10725912" cy="25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0" y="6400800"/>
            <a:ext cx="731520" cy="274320"/>
          </a:xfrm>
          <a:prstGeom prst="rect">
            <a:avLst/>
          </a:prstGeom>
          <a:noFill/>
        </p:spPr>
        <p:txBody>
          <a:bodyPr wrap="square">
            <a:spAutoFit/>
          </a:bodyPr>
          <a:lstStyle/>
          <a:p>
            <a:pPr algn="r"/>
            <a:r>
              <a:rPr sz="1000" b="0" i="0">
                <a:solidFill>
                  <a:srgbClr val="64748B"/>
                </a:solidFill>
                <a:latin typeface="Arial"/>
              </a:rPr>
              <a:t>11</a:t>
            </a:r>
          </a:p>
        </p:txBody>
      </p:sp>
      <p:sp>
        <p:nvSpPr>
          <p:cNvPr id="5" name="TextBox 4"/>
          <p:cNvSpPr txBox="1"/>
          <p:nvPr/>
        </p:nvSpPr>
        <p:spPr>
          <a:xfrm>
            <a:off x="731520" y="6400800"/>
            <a:ext cx="4572000" cy="274320"/>
          </a:xfrm>
          <a:prstGeom prst="rect">
            <a:avLst/>
          </a:prstGeom>
          <a:noFill/>
        </p:spPr>
        <p:txBody>
          <a:bodyPr wrap="none">
            <a:spAutoFit/>
          </a:bodyPr>
          <a:lstStyle/>
          <a:p>
            <a:r>
              <a:rPr sz="1000" b="0" i="0">
                <a:solidFill>
                  <a:srgbClr val="64748B"/>
                </a:solidFill>
                <a:latin typeface="Arial"/>
              </a:rPr>
              <a:t>Bike Rental Demand Prediction | ML Project Presentation</a:t>
            </a:r>
          </a:p>
        </p:txBody>
      </p:sp>
      <p:sp>
        <p:nvSpPr>
          <p:cNvPr id="6" name="Rounded Rectangle 5"/>
          <p:cNvSpPr/>
          <p:nvPr/>
        </p:nvSpPr>
        <p:spPr>
          <a:xfrm>
            <a:off x="1061185" y="1696638"/>
            <a:ext cx="4455696" cy="4013362"/>
          </a:xfrm>
          <a:prstGeom prst="roundRect">
            <a:avLst>
              <a:gd name="adj" fmla="val 0"/>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869858" y="1645920"/>
            <a:ext cx="5560142"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14973" y="1828800"/>
            <a:ext cx="4932147" cy="3749039"/>
          </a:xfrm>
          <a:prstGeom prst="rect">
            <a:avLst/>
          </a:prstGeom>
          <a:noFill/>
        </p:spPr>
        <p:txBody>
          <a:bodyPr wrap="square">
            <a:spAutoFit/>
          </a:bodyPr>
          <a:lstStyle/>
          <a:p>
            <a:pPr>
              <a:spcAft>
                <a:spcPts val="1200"/>
              </a:spcAft>
            </a:pPr>
            <a:r>
              <a:rPr sz="2000" b="1" i="0" dirty="0">
                <a:solidFill>
                  <a:srgbClr val="0D9488"/>
                </a:solidFill>
                <a:latin typeface="Georgia"/>
              </a:rPr>
              <a:t>Key Analytical Insights</a:t>
            </a:r>
          </a:p>
          <a:p>
            <a:pPr>
              <a:spcAft>
                <a:spcPts val="1200"/>
              </a:spcAft>
            </a:pPr>
            <a:r>
              <a:rPr sz="1300" b="1" i="0" dirty="0">
                <a:solidFill>
                  <a:srgbClr val="0F172A"/>
                </a:solidFill>
                <a:latin typeface="Arial"/>
              </a:rPr>
              <a:t>Temperature Dominance:</a:t>
            </a:r>
            <a:r>
              <a:rPr sz="1300" b="0" i="0" dirty="0">
                <a:solidFill>
                  <a:srgbClr val="0F172A"/>
                </a:solidFill>
                <a:latin typeface="Arial"/>
              </a:rPr>
              <a:t> Air temperature (temp) and feeling temperature (</a:t>
            </a:r>
            <a:r>
              <a:rPr sz="1300" b="0" i="0" dirty="0" err="1">
                <a:solidFill>
                  <a:srgbClr val="0F172A"/>
                </a:solidFill>
                <a:latin typeface="Arial"/>
              </a:rPr>
              <a:t>atemp</a:t>
            </a:r>
            <a:r>
              <a:rPr sz="1300" b="0" i="0" dirty="0">
                <a:solidFill>
                  <a:srgbClr val="0F172A"/>
                </a:solidFill>
                <a:latin typeface="Arial"/>
              </a:rPr>
              <a:t>) demonstrate the most powerful positive correlations with hourly count.</a:t>
            </a:r>
          </a:p>
          <a:p>
            <a:pPr>
              <a:spcAft>
                <a:spcPts val="1200"/>
              </a:spcAft>
            </a:pPr>
            <a:r>
              <a:rPr sz="1300" b="1" i="0" dirty="0">
                <a:solidFill>
                  <a:srgbClr val="0F172A"/>
                </a:solidFill>
                <a:latin typeface="Arial"/>
              </a:rPr>
              <a:t>Humidity Suppression:</a:t>
            </a:r>
            <a:r>
              <a:rPr sz="1300" b="0" i="0" dirty="0">
                <a:solidFill>
                  <a:srgbClr val="0F172A"/>
                </a:solidFill>
                <a:latin typeface="Arial"/>
              </a:rPr>
              <a:t> Relative humidity shows a substantial negative correlation, highlighting that muggy air deters riders.</a:t>
            </a:r>
          </a:p>
          <a:p>
            <a:pPr>
              <a:spcAft>
                <a:spcPts val="1200"/>
              </a:spcAft>
            </a:pPr>
            <a:r>
              <a:rPr sz="1300" b="1" i="0" dirty="0">
                <a:solidFill>
                  <a:srgbClr val="0F172A"/>
                </a:solidFill>
                <a:latin typeface="Arial"/>
              </a:rPr>
              <a:t>Windspeed Insignificance:</a:t>
            </a:r>
            <a:r>
              <a:rPr sz="1300" b="0" i="0" dirty="0">
                <a:solidFill>
                  <a:srgbClr val="0F172A"/>
                </a:solidFill>
                <a:latin typeface="Arial"/>
              </a:rPr>
              <a:t> Displays a negligible, slightly positive correlation on its own.</a:t>
            </a:r>
          </a:p>
          <a:p>
            <a:pPr>
              <a:spcAft>
                <a:spcPts val="1200"/>
              </a:spcAft>
            </a:pPr>
            <a:r>
              <a:rPr sz="1300" b="1" i="0" dirty="0">
                <a:solidFill>
                  <a:srgbClr val="0F172A"/>
                </a:solidFill>
                <a:latin typeface="Arial"/>
              </a:rPr>
              <a:t>Extreme Multicollinearity:</a:t>
            </a:r>
            <a:r>
              <a:rPr sz="1300" b="0" i="0" dirty="0">
                <a:solidFill>
                  <a:srgbClr val="0F172A"/>
                </a:solidFill>
                <a:latin typeface="Arial"/>
              </a:rPr>
              <a:t> Spotted a near-perfect correlation (r ~ 0.99) between temp and </a:t>
            </a:r>
            <a:r>
              <a:rPr sz="1300" b="0" i="0" dirty="0" err="1">
                <a:solidFill>
                  <a:srgbClr val="0F172A"/>
                </a:solidFill>
                <a:latin typeface="Arial"/>
              </a:rPr>
              <a:t>atemp</a:t>
            </a:r>
            <a:r>
              <a:rPr sz="1300" b="0" i="0" dirty="0">
                <a:solidFill>
                  <a:srgbClr val="0F172A"/>
                </a:solidFill>
                <a:latin typeface="Arial"/>
              </a:rPr>
              <a:t>, presenting high collinearity risk.</a:t>
            </a:r>
          </a:p>
          <a:p>
            <a:pPr>
              <a:spcAft>
                <a:spcPts val="1200"/>
              </a:spcAft>
            </a:pPr>
            <a:r>
              <a:rPr sz="1300" b="1" i="0" dirty="0">
                <a:solidFill>
                  <a:srgbClr val="0F172A"/>
                </a:solidFill>
                <a:latin typeface="Arial"/>
              </a:rPr>
              <a:t>Target Leakage Warning:</a:t>
            </a:r>
            <a:r>
              <a:rPr sz="1300" b="0" i="0" dirty="0">
                <a:solidFill>
                  <a:srgbClr val="0F172A"/>
                </a:solidFill>
                <a:latin typeface="Arial"/>
              </a:rPr>
              <a:t> Discovered casual and registered add up exactly to the target '</a:t>
            </a:r>
            <a:r>
              <a:rPr sz="1300" b="0" i="0" dirty="0" err="1">
                <a:solidFill>
                  <a:srgbClr val="0F172A"/>
                </a:solidFill>
                <a:latin typeface="Arial"/>
              </a:rPr>
              <a:t>cnt</a:t>
            </a:r>
            <a:r>
              <a:rPr sz="1300" b="0" i="0" dirty="0">
                <a:solidFill>
                  <a:srgbClr val="0F172A"/>
                </a:solidFill>
                <a:latin typeface="Arial"/>
              </a:rPr>
              <a:t>'. They are dropped entirely to prevent target leakage.</a:t>
            </a:r>
          </a:p>
        </p:txBody>
      </p:sp>
      <p:pic>
        <p:nvPicPr>
          <p:cNvPr id="11" name="Picture 10">
            <a:extLst>
              <a:ext uri="{FF2B5EF4-FFF2-40B4-BE49-F238E27FC236}">
                <a16:creationId xmlns:a16="http://schemas.microsoft.com/office/drawing/2014/main" id="{612F04E8-F4E0-3767-5659-D0D0A432A7B2}"/>
              </a:ext>
            </a:extLst>
          </p:cNvPr>
          <p:cNvPicPr>
            <a:picLocks noChangeAspect="1"/>
          </p:cNvPicPr>
          <p:nvPr/>
        </p:nvPicPr>
        <p:blipFill>
          <a:blip r:embed="rId3"/>
          <a:stretch>
            <a:fillRect/>
          </a:stretch>
        </p:blipFill>
        <p:spPr>
          <a:xfrm>
            <a:off x="1061185" y="1696638"/>
            <a:ext cx="4461309" cy="401336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5912" cy="731520"/>
          </a:xfrm>
          <a:prstGeom prst="rect">
            <a:avLst/>
          </a:prstGeom>
          <a:noFill/>
        </p:spPr>
        <p:txBody>
          <a:bodyPr wrap="square" lIns="0" tIns="0" rIns="0" bIns="0">
            <a:spAutoFit/>
          </a:bodyPr>
          <a:lstStyle/>
          <a:p>
            <a:r>
              <a:rPr sz="2600" b="1" i="0">
                <a:solidFill>
                  <a:srgbClr val="0F172A"/>
                </a:solidFill>
                <a:latin typeface="Georgia"/>
              </a:rPr>
              <a:t>Feature Engineering: Injecting Domain Knowledge</a:t>
            </a:r>
          </a:p>
        </p:txBody>
      </p:sp>
      <p:sp>
        <p:nvSpPr>
          <p:cNvPr id="3" name="Rectangle 2"/>
          <p:cNvSpPr/>
          <p:nvPr/>
        </p:nvSpPr>
        <p:spPr>
          <a:xfrm>
            <a:off x="731520" y="1051560"/>
            <a:ext cx="10725912" cy="25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0" y="6400800"/>
            <a:ext cx="731520" cy="274320"/>
          </a:xfrm>
          <a:prstGeom prst="rect">
            <a:avLst/>
          </a:prstGeom>
          <a:noFill/>
        </p:spPr>
        <p:txBody>
          <a:bodyPr wrap="square">
            <a:spAutoFit/>
          </a:bodyPr>
          <a:lstStyle/>
          <a:p>
            <a:pPr algn="r"/>
            <a:r>
              <a:rPr sz="1000" b="0" i="0">
                <a:solidFill>
                  <a:srgbClr val="64748B"/>
                </a:solidFill>
                <a:latin typeface="Arial"/>
              </a:rPr>
              <a:t>12</a:t>
            </a:r>
          </a:p>
        </p:txBody>
      </p:sp>
      <p:sp>
        <p:nvSpPr>
          <p:cNvPr id="5" name="TextBox 4"/>
          <p:cNvSpPr txBox="1"/>
          <p:nvPr/>
        </p:nvSpPr>
        <p:spPr>
          <a:xfrm>
            <a:off x="731520" y="6400800"/>
            <a:ext cx="4572000" cy="274320"/>
          </a:xfrm>
          <a:prstGeom prst="rect">
            <a:avLst/>
          </a:prstGeom>
          <a:noFill/>
        </p:spPr>
        <p:txBody>
          <a:bodyPr wrap="none">
            <a:spAutoFit/>
          </a:bodyPr>
          <a:lstStyle/>
          <a:p>
            <a:r>
              <a:rPr sz="1000" b="0" i="0">
                <a:solidFill>
                  <a:srgbClr val="64748B"/>
                </a:solidFill>
                <a:latin typeface="Arial"/>
              </a:rPr>
              <a:t>Bike Rental Demand Prediction | ML Project Presentation</a:t>
            </a:r>
          </a:p>
        </p:txBody>
      </p:sp>
      <p:sp>
        <p:nvSpPr>
          <p:cNvPr id="6" name="Rounded Rectangle 5"/>
          <p:cNvSpPr/>
          <p:nvPr/>
        </p:nvSpPr>
        <p:spPr>
          <a:xfrm>
            <a:off x="731520" y="1645920"/>
            <a:ext cx="5120640" cy="1920240"/>
          </a:xfrm>
          <a:prstGeom prst="roundRect">
            <a:avLst/>
          </a:prstGeom>
          <a:solidFill>
            <a:srgbClr val="F0FDFA"/>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783080"/>
            <a:ext cx="4754880" cy="1645920"/>
          </a:xfrm>
          <a:prstGeom prst="rect">
            <a:avLst/>
          </a:prstGeom>
          <a:noFill/>
        </p:spPr>
        <p:txBody>
          <a:bodyPr wrap="square">
            <a:spAutoFit/>
          </a:bodyPr>
          <a:lstStyle/>
          <a:p>
            <a:pPr>
              <a:spcAft>
                <a:spcPts val="600"/>
              </a:spcAft>
            </a:pPr>
            <a:r>
              <a:rPr sz="1500" b="1" i="0">
                <a:solidFill>
                  <a:srgbClr val="0D9488"/>
                </a:solidFill>
                <a:latin typeface="Georgia"/>
              </a:rPr>
              <a:t>Peak_Hour (Binary Flag)</a:t>
            </a:r>
          </a:p>
          <a:p>
            <a:pPr>
              <a:spcAft>
                <a:spcPts val="400"/>
              </a:spcAft>
            </a:pPr>
            <a:r>
              <a:rPr sz="1000" b="1" i="0">
                <a:solidFill>
                  <a:srgbClr val="0F172A"/>
                </a:solidFill>
                <a:latin typeface="Arial"/>
              </a:rPr>
              <a:t>Commuter Rush Marker:</a:t>
            </a:r>
            <a:r>
              <a:rPr sz="1000" b="0" i="0">
                <a:solidFill>
                  <a:srgbClr val="0F172A"/>
                </a:solidFill>
                <a:latin typeface="Arial"/>
              </a:rPr>
              <a:t> Encoded as 1 if hour falls in commute windows (7-9 AM, 5-7 PM), otherwise 0.</a:t>
            </a:r>
          </a:p>
          <a:p>
            <a:pPr>
              <a:spcAft>
                <a:spcPts val="400"/>
              </a:spcAft>
            </a:pPr>
            <a:r>
              <a:rPr sz="1000" b="1" i="0">
                <a:solidFill>
                  <a:srgbClr val="0F172A"/>
                </a:solidFill>
                <a:latin typeface="Arial"/>
              </a:rPr>
              <a:t>Impact:</a:t>
            </a:r>
            <a:r>
              <a:rPr sz="1000" b="0" i="0">
                <a:solidFill>
                  <a:srgbClr val="0F172A"/>
                </a:solidFill>
                <a:latin typeface="Arial"/>
              </a:rPr>
              <a:t> Dramatically improves model ability to capture bimodal daily peaks.</a:t>
            </a:r>
          </a:p>
        </p:txBody>
      </p:sp>
      <p:sp>
        <p:nvSpPr>
          <p:cNvPr id="8" name="Rounded Rectangle 7"/>
          <p:cNvSpPr/>
          <p:nvPr/>
        </p:nvSpPr>
        <p:spPr>
          <a:xfrm>
            <a:off x="6309360" y="1645920"/>
            <a:ext cx="512064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0" y="1783080"/>
            <a:ext cx="4754880" cy="913070"/>
          </a:xfrm>
          <a:prstGeom prst="rect">
            <a:avLst/>
          </a:prstGeom>
          <a:noFill/>
        </p:spPr>
        <p:txBody>
          <a:bodyPr wrap="square">
            <a:spAutoFit/>
          </a:bodyPr>
          <a:lstStyle/>
          <a:p>
            <a:pPr>
              <a:spcAft>
                <a:spcPts val="600"/>
              </a:spcAft>
            </a:pPr>
            <a:r>
              <a:rPr sz="1500" b="1" i="0" dirty="0" err="1">
                <a:solidFill>
                  <a:schemeClr val="bg2">
                    <a:lumMod val="25000"/>
                  </a:schemeClr>
                </a:solidFill>
                <a:latin typeface="Georgia"/>
              </a:rPr>
              <a:t>hour_bucket</a:t>
            </a:r>
            <a:r>
              <a:rPr sz="1500" b="1" i="0" dirty="0">
                <a:solidFill>
                  <a:schemeClr val="bg2">
                    <a:lumMod val="25000"/>
                  </a:schemeClr>
                </a:solidFill>
                <a:latin typeface="Georgia"/>
              </a:rPr>
              <a:t> (Categorical)</a:t>
            </a:r>
          </a:p>
          <a:p>
            <a:pPr>
              <a:spcAft>
                <a:spcPts val="400"/>
              </a:spcAft>
            </a:pPr>
            <a:r>
              <a:rPr sz="1000" b="1" i="0" dirty="0">
                <a:solidFill>
                  <a:srgbClr val="0F172A"/>
                </a:solidFill>
                <a:latin typeface="Arial"/>
              </a:rPr>
              <a:t>Hourly Segmentation:</a:t>
            </a:r>
            <a:r>
              <a:rPr sz="1000" b="0" i="0" dirty="0">
                <a:solidFill>
                  <a:srgbClr val="0F172A"/>
                </a:solidFill>
                <a:latin typeface="Arial"/>
              </a:rPr>
              <a:t> Categorizes the 24-hour cycle into </a:t>
            </a:r>
            <a:r>
              <a:rPr sz="1000" b="0" i="0" dirty="0" err="1">
                <a:solidFill>
                  <a:srgbClr val="0F172A"/>
                </a:solidFill>
                <a:latin typeface="Arial"/>
              </a:rPr>
              <a:t>morning_rush</a:t>
            </a:r>
            <a:r>
              <a:rPr sz="1000" b="0" i="0" dirty="0">
                <a:solidFill>
                  <a:srgbClr val="0F172A"/>
                </a:solidFill>
                <a:latin typeface="Arial"/>
              </a:rPr>
              <a:t>, </a:t>
            </a:r>
            <a:r>
              <a:rPr sz="1000" b="0" i="0" dirty="0" err="1">
                <a:solidFill>
                  <a:srgbClr val="0F172A"/>
                </a:solidFill>
                <a:latin typeface="Arial"/>
              </a:rPr>
              <a:t>evening_rush</a:t>
            </a:r>
            <a:r>
              <a:rPr sz="1000" b="0" i="0" dirty="0">
                <a:solidFill>
                  <a:srgbClr val="0F172A"/>
                </a:solidFill>
                <a:latin typeface="Arial"/>
              </a:rPr>
              <a:t>, daytime, and night.</a:t>
            </a:r>
          </a:p>
          <a:p>
            <a:pPr>
              <a:spcAft>
                <a:spcPts val="400"/>
              </a:spcAft>
            </a:pPr>
            <a:r>
              <a:rPr sz="1000" b="1" i="0" dirty="0">
                <a:solidFill>
                  <a:srgbClr val="0F172A"/>
                </a:solidFill>
                <a:latin typeface="Arial"/>
              </a:rPr>
              <a:t>Impact:</a:t>
            </a:r>
            <a:r>
              <a:rPr sz="1000" b="0" i="0" dirty="0">
                <a:solidFill>
                  <a:srgbClr val="0F172A"/>
                </a:solidFill>
                <a:latin typeface="Arial"/>
              </a:rPr>
              <a:t> Simplifies hourly non-linear trends into distinct human activity zones.</a:t>
            </a:r>
          </a:p>
        </p:txBody>
      </p:sp>
      <p:sp>
        <p:nvSpPr>
          <p:cNvPr id="10" name="Rounded Rectangle 9"/>
          <p:cNvSpPr/>
          <p:nvPr/>
        </p:nvSpPr>
        <p:spPr>
          <a:xfrm>
            <a:off x="731520" y="3840480"/>
            <a:ext cx="512064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3977640"/>
            <a:ext cx="4754880" cy="1066959"/>
          </a:xfrm>
          <a:prstGeom prst="rect">
            <a:avLst/>
          </a:prstGeom>
          <a:noFill/>
        </p:spPr>
        <p:txBody>
          <a:bodyPr wrap="square">
            <a:spAutoFit/>
          </a:bodyPr>
          <a:lstStyle/>
          <a:p>
            <a:pPr>
              <a:spcAft>
                <a:spcPts val="600"/>
              </a:spcAft>
            </a:pPr>
            <a:r>
              <a:rPr sz="1500" b="1" i="0" dirty="0">
                <a:solidFill>
                  <a:schemeClr val="bg2">
                    <a:lumMod val="25000"/>
                  </a:schemeClr>
                </a:solidFill>
                <a:latin typeface="Georgia"/>
              </a:rPr>
              <a:t>Weeke</a:t>
            </a:r>
            <a:r>
              <a:rPr lang="en-IN" sz="1500" b="1" i="0" dirty="0" err="1">
                <a:solidFill>
                  <a:schemeClr val="bg2">
                    <a:lumMod val="25000"/>
                  </a:schemeClr>
                </a:solidFill>
                <a:latin typeface="Georgia"/>
              </a:rPr>
              <a:t>nd</a:t>
            </a:r>
            <a:endParaRPr sz="1500" b="1" i="0" dirty="0">
              <a:solidFill>
                <a:schemeClr val="bg2">
                  <a:lumMod val="25000"/>
                </a:schemeClr>
              </a:solidFill>
              <a:latin typeface="Georgia"/>
            </a:endParaRPr>
          </a:p>
          <a:p>
            <a:pPr>
              <a:spcAft>
                <a:spcPts val="400"/>
              </a:spcAft>
            </a:pPr>
            <a:r>
              <a:rPr sz="1000" b="1" i="0" dirty="0">
                <a:solidFill>
                  <a:srgbClr val="0F172A"/>
                </a:solidFill>
                <a:latin typeface="Arial"/>
              </a:rPr>
              <a:t>Temporal Segmentation:</a:t>
            </a:r>
            <a:r>
              <a:rPr sz="1000" b="0" i="0" dirty="0">
                <a:solidFill>
                  <a:srgbClr val="0F172A"/>
                </a:solidFill>
                <a:latin typeface="Arial"/>
              </a:rPr>
              <a:t> Created a binary flag (1 for Sat/Sun, 0 for Mon-Fri) derived from weekday index.</a:t>
            </a:r>
          </a:p>
          <a:p>
            <a:pPr>
              <a:spcAft>
                <a:spcPts val="400"/>
              </a:spcAft>
            </a:pPr>
            <a:r>
              <a:rPr sz="1000" b="1" i="0" dirty="0">
                <a:solidFill>
                  <a:srgbClr val="0F172A"/>
                </a:solidFill>
                <a:latin typeface="Arial"/>
              </a:rPr>
              <a:t>Impact:</a:t>
            </a:r>
            <a:r>
              <a:rPr sz="1000" b="0" i="0" dirty="0">
                <a:solidFill>
                  <a:srgbClr val="0F172A"/>
                </a:solidFill>
                <a:latin typeface="Arial"/>
              </a:rPr>
              <a:t> Helps trees easily separate commuter-driven days from leisure-driven weekend patterns.</a:t>
            </a:r>
          </a:p>
        </p:txBody>
      </p:sp>
      <p:sp>
        <p:nvSpPr>
          <p:cNvPr id="12" name="Rounded Rectangle 11"/>
          <p:cNvSpPr/>
          <p:nvPr/>
        </p:nvSpPr>
        <p:spPr>
          <a:xfrm>
            <a:off x="6309360" y="3840480"/>
            <a:ext cx="5120640" cy="1920240"/>
          </a:xfrm>
          <a:prstGeom prst="roundRect">
            <a:avLst/>
          </a:prstGeom>
          <a:solidFill>
            <a:srgbClr val="FFF7ED"/>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3977640"/>
            <a:ext cx="4754880" cy="1645920"/>
          </a:xfrm>
          <a:prstGeom prst="rect">
            <a:avLst/>
          </a:prstGeom>
          <a:noFill/>
        </p:spPr>
        <p:txBody>
          <a:bodyPr wrap="square">
            <a:spAutoFit/>
          </a:bodyPr>
          <a:lstStyle/>
          <a:p>
            <a:pPr>
              <a:spcAft>
                <a:spcPts val="600"/>
              </a:spcAft>
            </a:pPr>
            <a:r>
              <a:rPr sz="1500" b="1" i="0">
                <a:solidFill>
                  <a:srgbClr val="EA580C"/>
                </a:solidFill>
                <a:latin typeface="Georgia"/>
              </a:rPr>
              <a:t>Temp_Difference</a:t>
            </a:r>
          </a:p>
          <a:p>
            <a:pPr>
              <a:spcAft>
                <a:spcPts val="400"/>
              </a:spcAft>
            </a:pPr>
            <a:r>
              <a:rPr sz="1000" b="1" i="0">
                <a:solidFill>
                  <a:srgbClr val="0F172A"/>
                </a:solidFill>
                <a:latin typeface="Arial"/>
              </a:rPr>
              <a:t>Sensory Thermal Comfort:</a:t>
            </a:r>
            <a:r>
              <a:rPr sz="1000" b="0" i="0">
                <a:solidFill>
                  <a:srgbClr val="0F172A"/>
                </a:solidFill>
                <a:latin typeface="Arial"/>
              </a:rPr>
              <a:t> Engineered as absolute differential: abs(temp - atemp).</a:t>
            </a:r>
          </a:p>
          <a:p>
            <a:pPr>
              <a:spcAft>
                <a:spcPts val="400"/>
              </a:spcAft>
            </a:pPr>
            <a:r>
              <a:rPr sz="1000" b="1" i="0">
                <a:solidFill>
                  <a:srgbClr val="0F172A"/>
                </a:solidFill>
                <a:latin typeface="Arial"/>
              </a:rPr>
              <a:t>Impact:</a:t>
            </a:r>
            <a:r>
              <a:rPr sz="1000" b="0" i="0">
                <a:solidFill>
                  <a:srgbClr val="0F172A"/>
                </a:solidFill>
                <a:latin typeface="Arial"/>
              </a:rPr>
              <a:t> Captures the physical windchill or humidity comfort offset factor.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5912" cy="731520"/>
          </a:xfrm>
          <a:prstGeom prst="rect">
            <a:avLst/>
          </a:prstGeom>
          <a:noFill/>
        </p:spPr>
        <p:txBody>
          <a:bodyPr wrap="square" lIns="0" tIns="0" rIns="0" bIns="0">
            <a:spAutoFit/>
          </a:bodyPr>
          <a:lstStyle/>
          <a:p>
            <a:r>
              <a:rPr sz="2600" b="1" i="0">
                <a:solidFill>
                  <a:srgbClr val="0F172A"/>
                </a:solidFill>
                <a:latin typeface="Georgia"/>
              </a:rPr>
              <a:t>Candidate Architectures: Standard Baselines to Boosting Ensembles</a:t>
            </a:r>
          </a:p>
        </p:txBody>
      </p:sp>
      <p:sp>
        <p:nvSpPr>
          <p:cNvPr id="3" name="Rectangle 2"/>
          <p:cNvSpPr/>
          <p:nvPr/>
        </p:nvSpPr>
        <p:spPr>
          <a:xfrm>
            <a:off x="731520" y="1051560"/>
            <a:ext cx="10725912" cy="25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0" y="6400800"/>
            <a:ext cx="731520" cy="274320"/>
          </a:xfrm>
          <a:prstGeom prst="rect">
            <a:avLst/>
          </a:prstGeom>
          <a:noFill/>
        </p:spPr>
        <p:txBody>
          <a:bodyPr wrap="square">
            <a:spAutoFit/>
          </a:bodyPr>
          <a:lstStyle/>
          <a:p>
            <a:pPr algn="r"/>
            <a:r>
              <a:rPr sz="1000" b="0" i="0">
                <a:solidFill>
                  <a:srgbClr val="64748B"/>
                </a:solidFill>
                <a:latin typeface="Arial"/>
              </a:rPr>
              <a:t>13</a:t>
            </a:r>
          </a:p>
        </p:txBody>
      </p:sp>
      <p:sp>
        <p:nvSpPr>
          <p:cNvPr id="5" name="TextBox 4"/>
          <p:cNvSpPr txBox="1"/>
          <p:nvPr/>
        </p:nvSpPr>
        <p:spPr>
          <a:xfrm>
            <a:off x="731520" y="6400800"/>
            <a:ext cx="4572000" cy="274320"/>
          </a:xfrm>
          <a:prstGeom prst="rect">
            <a:avLst/>
          </a:prstGeom>
          <a:noFill/>
        </p:spPr>
        <p:txBody>
          <a:bodyPr wrap="none">
            <a:spAutoFit/>
          </a:bodyPr>
          <a:lstStyle/>
          <a:p>
            <a:r>
              <a:rPr sz="1000" b="0" i="0">
                <a:solidFill>
                  <a:srgbClr val="64748B"/>
                </a:solidFill>
                <a:latin typeface="Arial"/>
              </a:rPr>
              <a:t>Bike Rental Demand Prediction | ML Project Presentation</a:t>
            </a:r>
          </a:p>
        </p:txBody>
      </p:sp>
      <p:sp>
        <p:nvSpPr>
          <p:cNvPr id="6" name="Rounded Rectangle 5"/>
          <p:cNvSpPr/>
          <p:nvPr/>
        </p:nvSpPr>
        <p:spPr>
          <a:xfrm>
            <a:off x="731520" y="1645920"/>
            <a:ext cx="512064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828800"/>
            <a:ext cx="4754880" cy="3749039"/>
          </a:xfrm>
          <a:prstGeom prst="rect">
            <a:avLst/>
          </a:prstGeom>
          <a:noFill/>
        </p:spPr>
        <p:txBody>
          <a:bodyPr wrap="square">
            <a:spAutoFit/>
          </a:bodyPr>
          <a:lstStyle/>
          <a:p>
            <a:pPr>
              <a:spcAft>
                <a:spcPts val="1200"/>
              </a:spcAft>
            </a:pPr>
            <a:r>
              <a:rPr sz="2000" b="1" i="0">
                <a:solidFill>
                  <a:srgbClr val="0F172A"/>
                </a:solidFill>
                <a:latin typeface="Georgia"/>
              </a:rPr>
              <a:t>Baseline &amp; Bagging Models</a:t>
            </a:r>
          </a:p>
          <a:p>
            <a:pPr>
              <a:spcAft>
                <a:spcPts val="1200"/>
              </a:spcAft>
            </a:pPr>
            <a:r>
              <a:rPr sz="1200" b="1" i="0">
                <a:solidFill>
                  <a:srgbClr val="0F172A"/>
                </a:solidFill>
                <a:latin typeface="Arial"/>
              </a:rPr>
              <a:t>Linear Regression (Statistical Baseline):</a:t>
            </a:r>
            <a:r>
              <a:rPr sz="1200" b="0" i="0">
                <a:solidFill>
                  <a:srgbClr val="0F172A"/>
                </a:solidFill>
                <a:latin typeface="Arial"/>
              </a:rPr>
              <a:t> Implemented to establish simple global linear patterns. Extremely fast and highly interpretable but suffers high bias on complex temporal patterns.</a:t>
            </a:r>
          </a:p>
          <a:p>
            <a:pPr>
              <a:spcAft>
                <a:spcPts val="1200"/>
              </a:spcAft>
            </a:pPr>
            <a:r>
              <a:rPr sz="1200" b="1" i="0">
                <a:solidFill>
                  <a:srgbClr val="0F172A"/>
                </a:solidFill>
                <a:latin typeface="Arial"/>
              </a:rPr>
              <a:t>Decision Tree Regressor (Non-Parametric):</a:t>
            </a:r>
            <a:r>
              <a:rPr sz="1200" b="0" i="0">
                <a:solidFill>
                  <a:srgbClr val="0F172A"/>
                </a:solidFill>
                <a:latin typeface="Arial"/>
              </a:rPr>
              <a:t> Learns non-linear split boundaries natively. Highly vulnerable to high variance and severe training overfitting.</a:t>
            </a:r>
          </a:p>
          <a:p>
            <a:pPr>
              <a:spcAft>
                <a:spcPts val="1200"/>
              </a:spcAft>
            </a:pPr>
            <a:r>
              <a:rPr sz="1200" b="1" i="0">
                <a:solidFill>
                  <a:srgbClr val="0F172A"/>
                </a:solidFill>
                <a:latin typeface="Arial"/>
              </a:rPr>
              <a:t>Random Forest Regressor (Parallel Bagging):</a:t>
            </a:r>
            <a:r>
              <a:rPr sz="1200" b="0" i="0">
                <a:solidFill>
                  <a:srgbClr val="0F172A"/>
                </a:solidFill>
                <a:latin typeface="Arial"/>
              </a:rPr>
              <a:t> Combines numerous deep, decorrelated decision trees in parallel. Substantially reduces prediction variance through voting averages.</a:t>
            </a:r>
          </a:p>
        </p:txBody>
      </p:sp>
      <p:sp>
        <p:nvSpPr>
          <p:cNvPr id="8" name="Rounded Rectangle 7"/>
          <p:cNvSpPr/>
          <p:nvPr/>
        </p:nvSpPr>
        <p:spPr>
          <a:xfrm>
            <a:off x="6309360" y="1645920"/>
            <a:ext cx="5120640" cy="4114800"/>
          </a:xfrm>
          <a:prstGeom prst="roundRect">
            <a:avLst/>
          </a:prstGeom>
          <a:solidFill>
            <a:srgbClr val="FFFFFF"/>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0" y="1828800"/>
            <a:ext cx="4754880" cy="3749039"/>
          </a:xfrm>
          <a:prstGeom prst="rect">
            <a:avLst/>
          </a:prstGeom>
          <a:noFill/>
        </p:spPr>
        <p:txBody>
          <a:bodyPr wrap="square">
            <a:spAutoFit/>
          </a:bodyPr>
          <a:lstStyle/>
          <a:p>
            <a:pPr>
              <a:spcAft>
                <a:spcPts val="1200"/>
              </a:spcAft>
            </a:pPr>
            <a:r>
              <a:rPr sz="2000" b="1" i="0">
                <a:solidFill>
                  <a:srgbClr val="0D9488"/>
                </a:solidFill>
                <a:latin typeface="Georgia"/>
              </a:rPr>
              <a:t>Advanced Boosting Ensembles</a:t>
            </a:r>
          </a:p>
          <a:p>
            <a:pPr>
              <a:spcAft>
                <a:spcPts val="1200"/>
              </a:spcAft>
            </a:pPr>
            <a:r>
              <a:rPr sz="1200" b="1" i="0">
                <a:solidFill>
                  <a:srgbClr val="0F172A"/>
                </a:solidFill>
                <a:latin typeface="Arial"/>
              </a:rPr>
              <a:t>Gradient Boosting Regressor (Sequential Boosting):</a:t>
            </a:r>
            <a:r>
              <a:rPr sz="1200" b="0" i="0">
                <a:solidFill>
                  <a:srgbClr val="0F172A"/>
                </a:solidFill>
                <a:latin typeface="Arial"/>
              </a:rPr>
              <a:t> Trains shallow trees sequentially, with each consecutive estimator explicitly minimizing the residual errors of prior steps.</a:t>
            </a:r>
          </a:p>
          <a:p>
            <a:pPr>
              <a:spcAft>
                <a:spcPts val="1200"/>
              </a:spcAft>
            </a:pPr>
            <a:r>
              <a:rPr sz="1200" b="1" i="0">
                <a:solidFill>
                  <a:srgbClr val="0F172A"/>
                </a:solidFill>
                <a:latin typeface="Arial"/>
              </a:rPr>
              <a:t>Extreme Gradient Boosting (XGBoost Regressor):</a:t>
            </a:r>
            <a:r>
              <a:rPr sz="1200" b="0" i="0">
                <a:solidFill>
                  <a:srgbClr val="0F172A"/>
                </a:solidFill>
                <a:latin typeface="Arial"/>
              </a:rPr>
              <a:t> State-of-the-art framework implementing regularized gradient boosting, automated column/row subsampling, parallel splits, and unmatched execution speeds.</a:t>
            </a:r>
          </a:p>
          <a:p>
            <a:pPr>
              <a:spcAft>
                <a:spcPts val="1200"/>
              </a:spcAft>
            </a:pPr>
            <a:r>
              <a:rPr sz="1200" b="1" i="0">
                <a:solidFill>
                  <a:srgbClr val="0F172A"/>
                </a:solidFill>
                <a:latin typeface="Arial"/>
              </a:rPr>
              <a:t>Modeling Evaluation Objective:</a:t>
            </a:r>
            <a:r>
              <a:rPr sz="1200" b="0" i="0">
                <a:solidFill>
                  <a:srgbClr val="0F172A"/>
                </a:solidFill>
                <a:latin typeface="Arial"/>
              </a:rPr>
              <a:t> All five models must be trained on identical 80/20 train-test splits and evaluated using four rigorous statistical metrics.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5912" cy="731520"/>
          </a:xfrm>
          <a:prstGeom prst="rect">
            <a:avLst/>
          </a:prstGeom>
          <a:noFill/>
        </p:spPr>
        <p:txBody>
          <a:bodyPr wrap="square" lIns="0" tIns="0" rIns="0" bIns="0">
            <a:spAutoFit/>
          </a:bodyPr>
          <a:lstStyle/>
          <a:p>
            <a:r>
              <a:rPr sz="2600" b="1" i="0">
                <a:solidFill>
                  <a:srgbClr val="0F172A"/>
                </a:solidFill>
                <a:latin typeface="Georgia"/>
              </a:rPr>
              <a:t>Hyperparameter Tuning: Optimizing the Champion XGBoost</a:t>
            </a:r>
          </a:p>
        </p:txBody>
      </p:sp>
      <p:sp>
        <p:nvSpPr>
          <p:cNvPr id="3" name="Rectangle 2"/>
          <p:cNvSpPr/>
          <p:nvPr/>
        </p:nvSpPr>
        <p:spPr>
          <a:xfrm>
            <a:off x="731520" y="1051560"/>
            <a:ext cx="10725912" cy="25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0" y="6400800"/>
            <a:ext cx="731520" cy="274320"/>
          </a:xfrm>
          <a:prstGeom prst="rect">
            <a:avLst/>
          </a:prstGeom>
          <a:noFill/>
        </p:spPr>
        <p:txBody>
          <a:bodyPr wrap="square">
            <a:spAutoFit/>
          </a:bodyPr>
          <a:lstStyle/>
          <a:p>
            <a:pPr algn="r"/>
            <a:r>
              <a:rPr sz="1000" b="0" i="0">
                <a:solidFill>
                  <a:srgbClr val="64748B"/>
                </a:solidFill>
                <a:latin typeface="Arial"/>
              </a:rPr>
              <a:t>14</a:t>
            </a:r>
          </a:p>
        </p:txBody>
      </p:sp>
      <p:sp>
        <p:nvSpPr>
          <p:cNvPr id="5" name="TextBox 4"/>
          <p:cNvSpPr txBox="1"/>
          <p:nvPr/>
        </p:nvSpPr>
        <p:spPr>
          <a:xfrm>
            <a:off x="731520" y="6400800"/>
            <a:ext cx="4572000" cy="274320"/>
          </a:xfrm>
          <a:prstGeom prst="rect">
            <a:avLst/>
          </a:prstGeom>
          <a:noFill/>
        </p:spPr>
        <p:txBody>
          <a:bodyPr wrap="none">
            <a:spAutoFit/>
          </a:bodyPr>
          <a:lstStyle/>
          <a:p>
            <a:r>
              <a:rPr sz="1000" b="0" i="0">
                <a:solidFill>
                  <a:srgbClr val="64748B"/>
                </a:solidFill>
                <a:latin typeface="Arial"/>
              </a:rPr>
              <a:t>Bike Rental Demand Prediction | ML Project Presentation</a:t>
            </a:r>
          </a:p>
        </p:txBody>
      </p:sp>
      <p:graphicFrame>
        <p:nvGraphicFramePr>
          <p:cNvPr id="6" name="Table 5"/>
          <p:cNvGraphicFramePr>
            <a:graphicFrameLocks noGrp="1"/>
          </p:cNvGraphicFramePr>
          <p:nvPr/>
        </p:nvGraphicFramePr>
        <p:xfrm>
          <a:off x="731520" y="1645920"/>
          <a:ext cx="5486400" cy="40233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670560">
                <a:tc>
                  <a:txBody>
                    <a:bodyPr/>
                    <a:lstStyle/>
                    <a:p>
                      <a:r>
                        <a:rPr sz="1200" b="1" i="0">
                          <a:solidFill>
                            <a:srgbClr val="F8FAFC"/>
                          </a:solidFill>
                          <a:latin typeface="Arial"/>
                        </a:rPr>
                        <a:t>XGBoost Parameter</a:t>
                      </a:r>
                    </a:p>
                  </a:txBody>
                  <a:tcPr>
                    <a:solidFill>
                      <a:srgbClr val="0F172A"/>
                    </a:solidFill>
                  </a:tcPr>
                </a:tc>
                <a:tc>
                  <a:txBody>
                    <a:bodyPr/>
                    <a:lstStyle/>
                    <a:p>
                      <a:r>
                        <a:rPr sz="1200" b="1" i="0">
                          <a:solidFill>
                            <a:srgbClr val="F8FAFC"/>
                          </a:solidFill>
                          <a:latin typeface="Arial"/>
                        </a:rPr>
                        <a:t>Grid Search Candidates</a:t>
                      </a:r>
                    </a:p>
                  </a:txBody>
                  <a:tcPr>
                    <a:solidFill>
                      <a:srgbClr val="0F172A"/>
                    </a:solidFill>
                  </a:tcPr>
                </a:tc>
                <a:tc>
                  <a:txBody>
                    <a:bodyPr/>
                    <a:lstStyle/>
                    <a:p>
                      <a:r>
                        <a:rPr sz="1200" b="1" i="0">
                          <a:solidFill>
                            <a:srgbClr val="F8FAFC"/>
                          </a:solidFill>
                          <a:latin typeface="Arial"/>
                        </a:rPr>
                        <a:t>Best Value</a:t>
                      </a:r>
                    </a:p>
                  </a:txBody>
                  <a:tcPr>
                    <a:solidFill>
                      <a:srgbClr val="0F172A"/>
                    </a:solidFill>
                  </a:tcPr>
                </a:tc>
                <a:extLst>
                  <a:ext uri="{0D108BD9-81ED-4DB2-BD59-A6C34878D82A}">
                    <a16:rowId xmlns:a16="http://schemas.microsoft.com/office/drawing/2014/main" val="10000"/>
                  </a:ext>
                </a:extLst>
              </a:tr>
              <a:tr h="670560">
                <a:tc>
                  <a:txBody>
                    <a:bodyPr/>
                    <a:lstStyle/>
                    <a:p>
                      <a:r>
                        <a:rPr sz="1000" b="0" i="0">
                          <a:solidFill>
                            <a:srgbClr val="0F172A"/>
                          </a:solidFill>
                          <a:latin typeface="Arial"/>
                        </a:rPr>
                        <a:t>n_estimators</a:t>
                      </a:r>
                    </a:p>
                  </a:txBody>
                  <a:tcPr>
                    <a:solidFill>
                      <a:srgbClr val="FFFFFF"/>
                    </a:solidFill>
                  </a:tcPr>
                </a:tc>
                <a:tc>
                  <a:txBody>
                    <a:bodyPr/>
                    <a:lstStyle/>
                    <a:p>
                      <a:r>
                        <a:rPr sz="1000" b="0" i="0">
                          <a:solidFill>
                            <a:srgbClr val="0F172A"/>
                          </a:solidFill>
                          <a:latin typeface="Arial"/>
                        </a:rPr>
                        <a:t>[100, 200, 300] (Boosting Rounds)</a:t>
                      </a:r>
                    </a:p>
                  </a:txBody>
                  <a:tcPr>
                    <a:solidFill>
                      <a:srgbClr val="FFFFFF"/>
                    </a:solidFill>
                  </a:tcPr>
                </a:tc>
                <a:tc>
                  <a:txBody>
                    <a:bodyPr/>
                    <a:lstStyle/>
                    <a:p>
                      <a:r>
                        <a:rPr sz="1000" b="1" i="0">
                          <a:solidFill>
                            <a:srgbClr val="0F172A"/>
                          </a:solidFill>
                          <a:latin typeface="Arial"/>
                        </a:rPr>
                        <a:t>300</a:t>
                      </a:r>
                    </a:p>
                  </a:txBody>
                  <a:tcPr>
                    <a:solidFill>
                      <a:srgbClr val="FFFFFF"/>
                    </a:solidFill>
                  </a:tcPr>
                </a:tc>
                <a:extLst>
                  <a:ext uri="{0D108BD9-81ED-4DB2-BD59-A6C34878D82A}">
                    <a16:rowId xmlns:a16="http://schemas.microsoft.com/office/drawing/2014/main" val="10001"/>
                  </a:ext>
                </a:extLst>
              </a:tr>
              <a:tr h="670560">
                <a:tc>
                  <a:txBody>
                    <a:bodyPr/>
                    <a:lstStyle/>
                    <a:p>
                      <a:r>
                        <a:rPr sz="1000" b="0" i="0">
                          <a:solidFill>
                            <a:srgbClr val="0F172A"/>
                          </a:solidFill>
                          <a:latin typeface="Arial"/>
                        </a:rPr>
                        <a:t>max_depth</a:t>
                      </a:r>
                    </a:p>
                  </a:txBody>
                  <a:tcPr>
                    <a:solidFill>
                      <a:srgbClr val="F1F5F9"/>
                    </a:solidFill>
                  </a:tcPr>
                </a:tc>
                <a:tc>
                  <a:txBody>
                    <a:bodyPr/>
                    <a:lstStyle/>
                    <a:p>
                      <a:r>
                        <a:rPr sz="1000" b="0" i="0">
                          <a:solidFill>
                            <a:srgbClr val="0F172A"/>
                          </a:solidFill>
                          <a:latin typeface="Arial"/>
                        </a:rPr>
                        <a:t>[3, 5, 7] (Tree Depth)</a:t>
                      </a:r>
                    </a:p>
                  </a:txBody>
                  <a:tcPr>
                    <a:solidFill>
                      <a:srgbClr val="F1F5F9"/>
                    </a:solidFill>
                  </a:tcPr>
                </a:tc>
                <a:tc>
                  <a:txBody>
                    <a:bodyPr/>
                    <a:lstStyle/>
                    <a:p>
                      <a:r>
                        <a:rPr sz="1000" b="1" i="0">
                          <a:solidFill>
                            <a:srgbClr val="0F172A"/>
                          </a:solidFill>
                          <a:latin typeface="Arial"/>
                        </a:rPr>
                        <a:t>7</a:t>
                      </a:r>
                    </a:p>
                  </a:txBody>
                  <a:tcPr>
                    <a:solidFill>
                      <a:srgbClr val="F1F5F9"/>
                    </a:solidFill>
                  </a:tcPr>
                </a:tc>
                <a:extLst>
                  <a:ext uri="{0D108BD9-81ED-4DB2-BD59-A6C34878D82A}">
                    <a16:rowId xmlns:a16="http://schemas.microsoft.com/office/drawing/2014/main" val="10002"/>
                  </a:ext>
                </a:extLst>
              </a:tr>
              <a:tr h="670560">
                <a:tc>
                  <a:txBody>
                    <a:bodyPr/>
                    <a:lstStyle/>
                    <a:p>
                      <a:r>
                        <a:rPr sz="1000" b="0" i="0">
                          <a:solidFill>
                            <a:srgbClr val="0F172A"/>
                          </a:solidFill>
                          <a:latin typeface="Arial"/>
                        </a:rPr>
                        <a:t>learning_rate</a:t>
                      </a:r>
                    </a:p>
                  </a:txBody>
                  <a:tcPr>
                    <a:solidFill>
                      <a:srgbClr val="FFFFFF"/>
                    </a:solidFill>
                  </a:tcPr>
                </a:tc>
                <a:tc>
                  <a:txBody>
                    <a:bodyPr/>
                    <a:lstStyle/>
                    <a:p>
                      <a:r>
                        <a:rPr sz="1000" b="0" i="0">
                          <a:solidFill>
                            <a:srgbClr val="0F172A"/>
                          </a:solidFill>
                          <a:latin typeface="Arial"/>
                        </a:rPr>
                        <a:t>[0.05, 0.1, 0.2] (Step Shrinkage)</a:t>
                      </a:r>
                    </a:p>
                  </a:txBody>
                  <a:tcPr>
                    <a:solidFill>
                      <a:srgbClr val="FFFFFF"/>
                    </a:solidFill>
                  </a:tcPr>
                </a:tc>
                <a:tc>
                  <a:txBody>
                    <a:bodyPr/>
                    <a:lstStyle/>
                    <a:p>
                      <a:r>
                        <a:rPr sz="1000" b="1" i="0">
                          <a:solidFill>
                            <a:srgbClr val="0F172A"/>
                          </a:solidFill>
                          <a:latin typeface="Arial"/>
                        </a:rPr>
                        <a:t>0.05</a:t>
                      </a:r>
                    </a:p>
                  </a:txBody>
                  <a:tcPr>
                    <a:solidFill>
                      <a:srgbClr val="FFFFFF"/>
                    </a:solidFill>
                  </a:tcPr>
                </a:tc>
                <a:extLst>
                  <a:ext uri="{0D108BD9-81ED-4DB2-BD59-A6C34878D82A}">
                    <a16:rowId xmlns:a16="http://schemas.microsoft.com/office/drawing/2014/main" val="10003"/>
                  </a:ext>
                </a:extLst>
              </a:tr>
              <a:tr h="670560">
                <a:tc>
                  <a:txBody>
                    <a:bodyPr/>
                    <a:lstStyle/>
                    <a:p>
                      <a:r>
                        <a:rPr sz="1000" b="0" i="0">
                          <a:solidFill>
                            <a:srgbClr val="0F172A"/>
                          </a:solidFill>
                          <a:latin typeface="Arial"/>
                        </a:rPr>
                        <a:t>subsample</a:t>
                      </a:r>
                    </a:p>
                  </a:txBody>
                  <a:tcPr>
                    <a:solidFill>
                      <a:srgbClr val="F1F5F9"/>
                    </a:solidFill>
                  </a:tcPr>
                </a:tc>
                <a:tc>
                  <a:txBody>
                    <a:bodyPr/>
                    <a:lstStyle/>
                    <a:p>
                      <a:r>
                        <a:rPr sz="1000" b="0" i="0">
                          <a:solidFill>
                            <a:srgbClr val="0F172A"/>
                          </a:solidFill>
                          <a:latin typeface="Arial"/>
                        </a:rPr>
                        <a:t>[0.7, 0.8, 0.9] (Row Subsampling)</a:t>
                      </a:r>
                    </a:p>
                  </a:txBody>
                  <a:tcPr>
                    <a:solidFill>
                      <a:srgbClr val="F1F5F9"/>
                    </a:solidFill>
                  </a:tcPr>
                </a:tc>
                <a:tc>
                  <a:txBody>
                    <a:bodyPr/>
                    <a:lstStyle/>
                    <a:p>
                      <a:r>
                        <a:rPr sz="1000" b="1" i="0">
                          <a:solidFill>
                            <a:srgbClr val="0F172A"/>
                          </a:solidFill>
                          <a:latin typeface="Arial"/>
                        </a:rPr>
                        <a:t>0.9</a:t>
                      </a:r>
                    </a:p>
                  </a:txBody>
                  <a:tcPr>
                    <a:solidFill>
                      <a:srgbClr val="F1F5F9"/>
                    </a:solidFill>
                  </a:tcPr>
                </a:tc>
                <a:extLst>
                  <a:ext uri="{0D108BD9-81ED-4DB2-BD59-A6C34878D82A}">
                    <a16:rowId xmlns:a16="http://schemas.microsoft.com/office/drawing/2014/main" val="10004"/>
                  </a:ext>
                </a:extLst>
              </a:tr>
              <a:tr h="670560">
                <a:tc>
                  <a:txBody>
                    <a:bodyPr/>
                    <a:lstStyle/>
                    <a:p>
                      <a:r>
                        <a:rPr sz="1000" b="0" i="0">
                          <a:solidFill>
                            <a:srgbClr val="0F172A"/>
                          </a:solidFill>
                          <a:latin typeface="Arial"/>
                        </a:rPr>
                        <a:t>colsample_bytree</a:t>
                      </a:r>
                    </a:p>
                  </a:txBody>
                  <a:tcPr>
                    <a:solidFill>
                      <a:srgbClr val="FFFFFF"/>
                    </a:solidFill>
                  </a:tcPr>
                </a:tc>
                <a:tc>
                  <a:txBody>
                    <a:bodyPr/>
                    <a:lstStyle/>
                    <a:p>
                      <a:r>
                        <a:rPr sz="1000" b="0" i="0">
                          <a:solidFill>
                            <a:srgbClr val="0F172A"/>
                          </a:solidFill>
                          <a:latin typeface="Arial"/>
                        </a:rPr>
                        <a:t>[0.7, 0.8, 0.9] (Col Subsampling)</a:t>
                      </a:r>
                    </a:p>
                  </a:txBody>
                  <a:tcPr>
                    <a:solidFill>
                      <a:srgbClr val="FFFFFF"/>
                    </a:solidFill>
                  </a:tcPr>
                </a:tc>
                <a:tc>
                  <a:txBody>
                    <a:bodyPr/>
                    <a:lstStyle/>
                    <a:p>
                      <a:r>
                        <a:rPr sz="1000" b="1" i="0">
                          <a:solidFill>
                            <a:srgbClr val="0F172A"/>
                          </a:solidFill>
                          <a:latin typeface="Arial"/>
                        </a:rPr>
                        <a:t>0.8</a:t>
                      </a:r>
                    </a:p>
                  </a:txBody>
                  <a:tcPr>
                    <a:solidFill>
                      <a:srgbClr val="FFFFFF"/>
                    </a:solidFill>
                  </a:tcPr>
                </a:tc>
                <a:extLst>
                  <a:ext uri="{0D108BD9-81ED-4DB2-BD59-A6C34878D82A}">
                    <a16:rowId xmlns:a16="http://schemas.microsoft.com/office/drawing/2014/main" val="10005"/>
                  </a:ext>
                </a:extLst>
              </a:tr>
            </a:tbl>
          </a:graphicData>
        </a:graphic>
      </p:graphicFrame>
      <p:sp>
        <p:nvSpPr>
          <p:cNvPr id="7" name="Rounded Rectangle 6"/>
          <p:cNvSpPr/>
          <p:nvPr/>
        </p:nvSpPr>
        <p:spPr>
          <a:xfrm>
            <a:off x="6583680" y="1645920"/>
            <a:ext cx="4846320" cy="4023360"/>
          </a:xfrm>
          <a:prstGeom prst="roundRect">
            <a:avLst/>
          </a:prstGeom>
          <a:solidFill>
            <a:srgbClr val="FFFFFF"/>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66560" y="1828800"/>
            <a:ext cx="4480560" cy="3657600"/>
          </a:xfrm>
          <a:prstGeom prst="rect">
            <a:avLst/>
          </a:prstGeom>
          <a:noFill/>
        </p:spPr>
        <p:txBody>
          <a:bodyPr wrap="square">
            <a:spAutoFit/>
          </a:bodyPr>
          <a:lstStyle/>
          <a:p>
            <a:pPr>
              <a:spcAft>
                <a:spcPts val="1200"/>
              </a:spcAft>
            </a:pPr>
            <a:r>
              <a:rPr sz="2000" b="1" i="0">
                <a:solidFill>
                  <a:srgbClr val="0D9488"/>
                </a:solidFill>
                <a:latin typeface="Georgia"/>
              </a:rPr>
              <a:t>Tuning Methodology &amp; Results</a:t>
            </a:r>
          </a:p>
          <a:p>
            <a:pPr>
              <a:spcAft>
                <a:spcPts val="1200"/>
              </a:spcAft>
            </a:pPr>
            <a:r>
              <a:rPr sz="1200" b="1" i="0">
                <a:solidFill>
                  <a:srgbClr val="0F172A"/>
                </a:solidFill>
                <a:latin typeface="Arial"/>
              </a:rPr>
              <a:t>Grid Search CV:</a:t>
            </a:r>
            <a:r>
              <a:rPr sz="1200" b="0" i="0">
                <a:solidFill>
                  <a:srgbClr val="0F172A"/>
                </a:solidFill>
                <a:latin typeface="Arial"/>
              </a:rPr>
              <a:t> Executed robust, 3-fold cross-validated grid searching across 243 discrete parameter combinations (totaling 729 fit rounds).</a:t>
            </a:r>
          </a:p>
          <a:p>
            <a:pPr>
              <a:spcAft>
                <a:spcPts val="1200"/>
              </a:spcAft>
            </a:pPr>
            <a:r>
              <a:rPr sz="1200" b="1" i="0">
                <a:solidFill>
                  <a:srgbClr val="0F172A"/>
                </a:solidFill>
                <a:latin typeface="Arial"/>
              </a:rPr>
              <a:t>Learning Rate Trade-off:</a:t>
            </a:r>
            <a:r>
              <a:rPr sz="1200" b="0" i="0">
                <a:solidFill>
                  <a:srgbClr val="0F172A"/>
                </a:solidFill>
                <a:latin typeface="Arial"/>
              </a:rPr>
              <a:t> Lowering the learning rate to 0.05 while expanding estimators to 300 successfully minimized training residuals.</a:t>
            </a:r>
          </a:p>
          <a:p>
            <a:pPr>
              <a:spcAft>
                <a:spcPts val="1200"/>
              </a:spcAft>
            </a:pPr>
            <a:r>
              <a:rPr sz="1200" b="1" i="0">
                <a:solidFill>
                  <a:srgbClr val="0F172A"/>
                </a:solidFill>
                <a:latin typeface="Arial"/>
              </a:rPr>
              <a:t>Overfitting Eradication:</a:t>
            </a:r>
            <a:r>
              <a:rPr sz="1200" b="0" i="0">
                <a:solidFill>
                  <a:srgbClr val="0F172A"/>
                </a:solidFill>
                <a:latin typeface="Arial"/>
              </a:rPr>
              <a:t> Tree constraint (max_depth=7) paired with feature subsampling (colsample_bytree=0.8) maximized testing generalization.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95688" y="365760"/>
            <a:ext cx="10725912" cy="400110"/>
          </a:xfrm>
          <a:prstGeom prst="rect">
            <a:avLst/>
          </a:prstGeom>
          <a:noFill/>
        </p:spPr>
        <p:txBody>
          <a:bodyPr wrap="square" lIns="0" tIns="0" rIns="0" bIns="0">
            <a:spAutoFit/>
          </a:bodyPr>
          <a:lstStyle/>
          <a:p>
            <a:r>
              <a:rPr sz="2600" b="1" i="0" dirty="0">
                <a:solidFill>
                  <a:srgbClr val="0F172A"/>
                </a:solidFill>
                <a:latin typeface="Georgia"/>
              </a:rPr>
              <a:t>Evaluation Metrics:</a:t>
            </a:r>
          </a:p>
        </p:txBody>
      </p:sp>
      <p:sp>
        <p:nvSpPr>
          <p:cNvPr id="3" name="Rectangle 2"/>
          <p:cNvSpPr/>
          <p:nvPr/>
        </p:nvSpPr>
        <p:spPr>
          <a:xfrm>
            <a:off x="731520" y="1051560"/>
            <a:ext cx="10725912" cy="25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0" y="6400800"/>
            <a:ext cx="731520" cy="274320"/>
          </a:xfrm>
          <a:prstGeom prst="rect">
            <a:avLst/>
          </a:prstGeom>
          <a:noFill/>
        </p:spPr>
        <p:txBody>
          <a:bodyPr wrap="square">
            <a:spAutoFit/>
          </a:bodyPr>
          <a:lstStyle/>
          <a:p>
            <a:pPr algn="r"/>
            <a:r>
              <a:rPr sz="1000" b="0" i="0">
                <a:solidFill>
                  <a:srgbClr val="64748B"/>
                </a:solidFill>
                <a:latin typeface="Arial"/>
              </a:rPr>
              <a:t>15</a:t>
            </a:r>
          </a:p>
        </p:txBody>
      </p:sp>
      <p:sp>
        <p:nvSpPr>
          <p:cNvPr id="5" name="TextBox 4"/>
          <p:cNvSpPr txBox="1"/>
          <p:nvPr/>
        </p:nvSpPr>
        <p:spPr>
          <a:xfrm>
            <a:off x="731520" y="6400800"/>
            <a:ext cx="4572000" cy="274320"/>
          </a:xfrm>
          <a:prstGeom prst="rect">
            <a:avLst/>
          </a:prstGeom>
          <a:noFill/>
        </p:spPr>
        <p:txBody>
          <a:bodyPr wrap="none">
            <a:spAutoFit/>
          </a:bodyPr>
          <a:lstStyle/>
          <a:p>
            <a:r>
              <a:rPr sz="1000" b="0" i="0">
                <a:solidFill>
                  <a:srgbClr val="64748B"/>
                </a:solidFill>
                <a:latin typeface="Arial"/>
              </a:rPr>
              <a:t>Bike Rental Demand Prediction | ML Project Presentation</a:t>
            </a:r>
          </a:p>
        </p:txBody>
      </p:sp>
      <p:sp>
        <p:nvSpPr>
          <p:cNvPr id="6" name="Rounded Rectangle 5"/>
          <p:cNvSpPr/>
          <p:nvPr/>
        </p:nvSpPr>
        <p:spPr>
          <a:xfrm>
            <a:off x="865238" y="1645920"/>
            <a:ext cx="10107561" cy="3626634"/>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84421" y="1791140"/>
            <a:ext cx="8758990" cy="3626634"/>
          </a:xfrm>
          <a:prstGeom prst="rect">
            <a:avLst/>
          </a:prstGeom>
          <a:noFill/>
        </p:spPr>
        <p:txBody>
          <a:bodyPr wrap="square">
            <a:spAutoFit/>
          </a:bodyPr>
          <a:lstStyle/>
          <a:p>
            <a:pPr>
              <a:spcAft>
                <a:spcPts val="1200"/>
              </a:spcAft>
            </a:pPr>
            <a:r>
              <a:rPr sz="1600" b="1" i="0" dirty="0">
                <a:solidFill>
                  <a:srgbClr val="0F172A"/>
                </a:solidFill>
                <a:latin typeface="Georgia"/>
              </a:rPr>
              <a:t>Absolute &amp; Squared Errors</a:t>
            </a:r>
          </a:p>
          <a:p>
            <a:pPr>
              <a:spcAft>
                <a:spcPts val="1400"/>
              </a:spcAft>
            </a:pPr>
            <a:r>
              <a:rPr sz="1600" b="1" i="0" dirty="0">
                <a:solidFill>
                  <a:srgbClr val="0F172A"/>
                </a:solidFill>
                <a:latin typeface="Arial"/>
              </a:rPr>
              <a:t>Mean Squared Error (MSE):</a:t>
            </a:r>
            <a:r>
              <a:rPr sz="1600" b="0" i="0" dirty="0">
                <a:solidFill>
                  <a:srgbClr val="0F172A"/>
                </a:solidFill>
                <a:latin typeface="Arial"/>
              </a:rPr>
              <a:t> Evaluates the average squared difference between predictions and actual counts. Heavily penalizes rare, large-scale forecasting mistakes.</a:t>
            </a:r>
          </a:p>
          <a:p>
            <a:pPr>
              <a:spcAft>
                <a:spcPts val="1400"/>
              </a:spcAft>
            </a:pPr>
            <a:r>
              <a:rPr sz="1600" b="1" i="0" dirty="0">
                <a:solidFill>
                  <a:srgbClr val="0F172A"/>
                </a:solidFill>
                <a:latin typeface="Arial"/>
              </a:rPr>
              <a:t>Root Mean Squared Error (RMSE):</a:t>
            </a:r>
            <a:r>
              <a:rPr sz="1600" b="0" i="0" dirty="0">
                <a:solidFill>
                  <a:srgbClr val="0F172A"/>
                </a:solidFill>
                <a:latin typeface="Arial"/>
              </a:rPr>
              <a:t> Square root of MSE. Translates the error variance back to the exact scale of the target variable (bike count), making results highly interpretable for business stakes.</a:t>
            </a:r>
            <a:endParaRPr lang="en-US" sz="1600" b="0" i="0" dirty="0">
              <a:solidFill>
                <a:srgbClr val="0F172A"/>
              </a:solidFill>
              <a:latin typeface="Arial"/>
            </a:endParaRPr>
          </a:p>
          <a:p>
            <a:pPr>
              <a:spcAft>
                <a:spcPts val="1400"/>
              </a:spcAft>
            </a:pPr>
            <a:r>
              <a:rPr lang="en-US" sz="1600" b="1" dirty="0">
                <a:solidFill>
                  <a:srgbClr val="0F172A"/>
                </a:solidFill>
                <a:latin typeface="Arial"/>
              </a:rPr>
              <a:t>Mean Absolute Error (MAE):</a:t>
            </a:r>
            <a:r>
              <a:rPr lang="en-US" sz="1600" dirty="0">
                <a:solidFill>
                  <a:srgbClr val="0F172A"/>
                </a:solidFill>
                <a:latin typeface="Arial"/>
              </a:rPr>
              <a:t> Measures the average magnitude of absolute forecasting errors. Highly robust to extreme outlier fluctuations.</a:t>
            </a:r>
          </a:p>
          <a:p>
            <a:pPr>
              <a:spcAft>
                <a:spcPts val="1400"/>
              </a:spcAft>
            </a:pPr>
            <a:r>
              <a:rPr lang="en-US" sz="1600" b="1" dirty="0">
                <a:solidFill>
                  <a:srgbClr val="0F172A"/>
                </a:solidFill>
                <a:latin typeface="Arial"/>
              </a:rPr>
              <a:t>R-squared Score (R2 Coefficient):</a:t>
            </a:r>
            <a:r>
              <a:rPr lang="en-US" sz="1600" dirty="0">
                <a:solidFill>
                  <a:srgbClr val="0F172A"/>
                </a:solidFill>
                <a:latin typeface="Arial"/>
              </a:rPr>
              <a:t> Evaluates the precise proportion of target variance explained by engineered model features. Provides the ultimate metric of model fit quality.</a:t>
            </a:r>
          </a:p>
          <a:p>
            <a:pPr>
              <a:spcAft>
                <a:spcPts val="1400"/>
              </a:spcAft>
            </a:pPr>
            <a:endParaRPr sz="1300" b="0" i="0" dirty="0">
              <a:solidFill>
                <a:srgbClr val="0F172A"/>
              </a:solidFill>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5912" cy="731520"/>
          </a:xfrm>
          <a:prstGeom prst="rect">
            <a:avLst/>
          </a:prstGeom>
          <a:noFill/>
        </p:spPr>
        <p:txBody>
          <a:bodyPr wrap="square" lIns="0" tIns="0" rIns="0" bIns="0">
            <a:spAutoFit/>
          </a:bodyPr>
          <a:lstStyle/>
          <a:p>
            <a:r>
              <a:rPr sz="2600" b="1" i="0">
                <a:solidFill>
                  <a:srgbClr val="0F172A"/>
                </a:solidFill>
                <a:latin typeface="Georgia"/>
              </a:rPr>
              <a:t>Model Comparison: Benchmark Performance Matrix</a:t>
            </a:r>
          </a:p>
        </p:txBody>
      </p:sp>
      <p:sp>
        <p:nvSpPr>
          <p:cNvPr id="3" name="Rectangle 2"/>
          <p:cNvSpPr/>
          <p:nvPr/>
        </p:nvSpPr>
        <p:spPr>
          <a:xfrm>
            <a:off x="731520" y="1051560"/>
            <a:ext cx="10725912" cy="25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0" y="6400800"/>
            <a:ext cx="731520" cy="274320"/>
          </a:xfrm>
          <a:prstGeom prst="rect">
            <a:avLst/>
          </a:prstGeom>
          <a:noFill/>
        </p:spPr>
        <p:txBody>
          <a:bodyPr wrap="square">
            <a:spAutoFit/>
          </a:bodyPr>
          <a:lstStyle/>
          <a:p>
            <a:pPr algn="r"/>
            <a:r>
              <a:rPr sz="1000" b="0" i="0">
                <a:solidFill>
                  <a:srgbClr val="64748B"/>
                </a:solidFill>
                <a:latin typeface="Arial"/>
              </a:rPr>
              <a:t>16</a:t>
            </a:r>
          </a:p>
        </p:txBody>
      </p:sp>
      <p:sp>
        <p:nvSpPr>
          <p:cNvPr id="5" name="TextBox 4"/>
          <p:cNvSpPr txBox="1"/>
          <p:nvPr/>
        </p:nvSpPr>
        <p:spPr>
          <a:xfrm>
            <a:off x="731520" y="6400800"/>
            <a:ext cx="4572000" cy="274320"/>
          </a:xfrm>
          <a:prstGeom prst="rect">
            <a:avLst/>
          </a:prstGeom>
          <a:noFill/>
        </p:spPr>
        <p:txBody>
          <a:bodyPr wrap="none">
            <a:spAutoFit/>
          </a:bodyPr>
          <a:lstStyle/>
          <a:p>
            <a:r>
              <a:rPr sz="1000" b="0" i="0">
                <a:solidFill>
                  <a:srgbClr val="64748B"/>
                </a:solidFill>
                <a:latin typeface="Arial"/>
              </a:rPr>
              <a:t>Bike Rental Demand Prediction | ML Project Presentation</a:t>
            </a:r>
          </a:p>
        </p:txBody>
      </p:sp>
      <p:graphicFrame>
        <p:nvGraphicFramePr>
          <p:cNvPr id="6" name="Table 5"/>
          <p:cNvGraphicFramePr>
            <a:graphicFrameLocks noGrp="1"/>
          </p:cNvGraphicFramePr>
          <p:nvPr/>
        </p:nvGraphicFramePr>
        <p:xfrm>
          <a:off x="731520" y="1645920"/>
          <a:ext cx="10725911" cy="402336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4050791">
                  <a:extLst>
                    <a:ext uri="{9D8B030D-6E8A-4147-A177-3AD203B41FA5}">
                      <a16:colId xmlns:a16="http://schemas.microsoft.com/office/drawing/2014/main" val="20004"/>
                    </a:ext>
                  </a:extLst>
                </a:gridCol>
              </a:tblGrid>
              <a:tr h="574765">
                <a:tc>
                  <a:txBody>
                    <a:bodyPr/>
                    <a:lstStyle/>
                    <a:p>
                      <a:r>
                        <a:rPr sz="1200" b="1" i="0">
                          <a:solidFill>
                            <a:srgbClr val="F8FAFC"/>
                          </a:solidFill>
                          <a:latin typeface="Arial"/>
                        </a:rPr>
                        <a:t>Machine Learning Model</a:t>
                      </a:r>
                    </a:p>
                  </a:txBody>
                  <a:tcPr>
                    <a:solidFill>
                      <a:srgbClr val="0F172A"/>
                    </a:solidFill>
                  </a:tcPr>
                </a:tc>
                <a:tc>
                  <a:txBody>
                    <a:bodyPr/>
                    <a:lstStyle/>
                    <a:p>
                      <a:r>
                        <a:rPr sz="1200" b="1" i="0">
                          <a:solidFill>
                            <a:srgbClr val="F8FAFC"/>
                          </a:solidFill>
                          <a:latin typeface="Arial"/>
                        </a:rPr>
                        <a:t>R2 Score</a:t>
                      </a:r>
                    </a:p>
                  </a:txBody>
                  <a:tcPr>
                    <a:solidFill>
                      <a:srgbClr val="0F172A"/>
                    </a:solidFill>
                  </a:tcPr>
                </a:tc>
                <a:tc>
                  <a:txBody>
                    <a:bodyPr/>
                    <a:lstStyle/>
                    <a:p>
                      <a:r>
                        <a:rPr sz="1200" b="1" i="0">
                          <a:solidFill>
                            <a:srgbClr val="F8FAFC"/>
                          </a:solidFill>
                          <a:latin typeface="Arial"/>
                        </a:rPr>
                        <a:t>RMSE</a:t>
                      </a:r>
                    </a:p>
                  </a:txBody>
                  <a:tcPr>
                    <a:solidFill>
                      <a:srgbClr val="0F172A"/>
                    </a:solidFill>
                  </a:tcPr>
                </a:tc>
                <a:tc>
                  <a:txBody>
                    <a:bodyPr/>
                    <a:lstStyle/>
                    <a:p>
                      <a:r>
                        <a:rPr sz="1200" b="1" i="0">
                          <a:solidFill>
                            <a:srgbClr val="F8FAFC"/>
                          </a:solidFill>
                          <a:latin typeface="Arial"/>
                        </a:rPr>
                        <a:t>MAE</a:t>
                      </a:r>
                    </a:p>
                  </a:txBody>
                  <a:tcPr>
                    <a:solidFill>
                      <a:srgbClr val="0F172A"/>
                    </a:solidFill>
                  </a:tcPr>
                </a:tc>
                <a:tc>
                  <a:txBody>
                    <a:bodyPr/>
                    <a:lstStyle/>
                    <a:p>
                      <a:r>
                        <a:rPr sz="1200" b="1" i="0">
                          <a:solidFill>
                            <a:srgbClr val="F8FAFC"/>
                          </a:solidFill>
                          <a:latin typeface="Arial"/>
                        </a:rPr>
                        <a:t>Key Architectural Finding</a:t>
                      </a:r>
                    </a:p>
                  </a:txBody>
                  <a:tcPr>
                    <a:solidFill>
                      <a:srgbClr val="0F172A"/>
                    </a:solidFill>
                  </a:tcPr>
                </a:tc>
                <a:extLst>
                  <a:ext uri="{0D108BD9-81ED-4DB2-BD59-A6C34878D82A}">
                    <a16:rowId xmlns:a16="http://schemas.microsoft.com/office/drawing/2014/main" val="10000"/>
                  </a:ext>
                </a:extLst>
              </a:tr>
              <a:tr h="574765">
                <a:tc>
                  <a:txBody>
                    <a:bodyPr/>
                    <a:lstStyle/>
                    <a:p>
                      <a:r>
                        <a:rPr sz="1000" b="1" i="0">
                          <a:solidFill>
                            <a:srgbClr val="0F172A"/>
                          </a:solidFill>
                          <a:latin typeface="Arial"/>
                        </a:rPr>
                        <a:t>Linear Regression (Baseline)</a:t>
                      </a:r>
                    </a:p>
                  </a:txBody>
                  <a:tcPr>
                    <a:solidFill>
                      <a:srgbClr val="FFFFFF"/>
                    </a:solidFill>
                  </a:tcPr>
                </a:tc>
                <a:tc>
                  <a:txBody>
                    <a:bodyPr/>
                    <a:lstStyle/>
                    <a:p>
                      <a:r>
                        <a:rPr sz="1000" b="0" i="0">
                          <a:solidFill>
                            <a:srgbClr val="0F172A"/>
                          </a:solidFill>
                          <a:latin typeface="Arial"/>
                        </a:rPr>
                        <a:t>0.63</a:t>
                      </a:r>
                    </a:p>
                  </a:txBody>
                  <a:tcPr>
                    <a:solidFill>
                      <a:srgbClr val="FFFFFF"/>
                    </a:solidFill>
                  </a:tcPr>
                </a:tc>
                <a:tc>
                  <a:txBody>
                    <a:bodyPr/>
                    <a:lstStyle/>
                    <a:p>
                      <a:r>
                        <a:rPr sz="1000" b="0" i="0">
                          <a:solidFill>
                            <a:srgbClr val="0F172A"/>
                          </a:solidFill>
                          <a:latin typeface="Arial"/>
                        </a:rPr>
                        <a:t>108.34</a:t>
                      </a:r>
                    </a:p>
                  </a:txBody>
                  <a:tcPr>
                    <a:solidFill>
                      <a:srgbClr val="FFFFFF"/>
                    </a:solidFill>
                  </a:tcPr>
                </a:tc>
                <a:tc>
                  <a:txBody>
                    <a:bodyPr/>
                    <a:lstStyle/>
                    <a:p>
                      <a:r>
                        <a:rPr sz="1000" b="0" i="0">
                          <a:solidFill>
                            <a:srgbClr val="0F172A"/>
                          </a:solidFill>
                          <a:latin typeface="Arial"/>
                        </a:rPr>
                        <a:t>82.04</a:t>
                      </a:r>
                    </a:p>
                  </a:txBody>
                  <a:tcPr>
                    <a:solidFill>
                      <a:srgbClr val="FFFFFF"/>
                    </a:solidFill>
                  </a:tcPr>
                </a:tc>
                <a:tc>
                  <a:txBody>
                    <a:bodyPr/>
                    <a:lstStyle/>
                    <a:p>
                      <a:r>
                        <a:rPr sz="1000" b="0" i="0">
                          <a:solidFill>
                            <a:srgbClr val="0F172A"/>
                          </a:solidFill>
                          <a:latin typeface="Arial"/>
                        </a:rPr>
                        <a:t>Fails to capture non-linear hourly demand swings.</a:t>
                      </a:r>
                    </a:p>
                  </a:txBody>
                  <a:tcPr>
                    <a:solidFill>
                      <a:srgbClr val="FFFFFF"/>
                    </a:solidFill>
                  </a:tcPr>
                </a:tc>
                <a:extLst>
                  <a:ext uri="{0D108BD9-81ED-4DB2-BD59-A6C34878D82A}">
                    <a16:rowId xmlns:a16="http://schemas.microsoft.com/office/drawing/2014/main" val="10001"/>
                  </a:ext>
                </a:extLst>
              </a:tr>
              <a:tr h="574765">
                <a:tc>
                  <a:txBody>
                    <a:bodyPr/>
                    <a:lstStyle/>
                    <a:p>
                      <a:r>
                        <a:rPr sz="1000" b="1" i="0">
                          <a:solidFill>
                            <a:srgbClr val="0F172A"/>
                          </a:solidFill>
                          <a:latin typeface="Arial"/>
                        </a:rPr>
                        <a:t>Gradient Boosting Regressor</a:t>
                      </a:r>
                    </a:p>
                  </a:txBody>
                  <a:tcPr>
                    <a:solidFill>
                      <a:srgbClr val="F1F5F9"/>
                    </a:solidFill>
                  </a:tcPr>
                </a:tc>
                <a:tc>
                  <a:txBody>
                    <a:bodyPr/>
                    <a:lstStyle/>
                    <a:p>
                      <a:r>
                        <a:rPr sz="1000" b="0" i="0">
                          <a:solidFill>
                            <a:srgbClr val="0F172A"/>
                          </a:solidFill>
                          <a:latin typeface="Arial"/>
                        </a:rPr>
                        <a:t>0.88</a:t>
                      </a:r>
                    </a:p>
                  </a:txBody>
                  <a:tcPr>
                    <a:solidFill>
                      <a:srgbClr val="F1F5F9"/>
                    </a:solidFill>
                  </a:tcPr>
                </a:tc>
                <a:tc>
                  <a:txBody>
                    <a:bodyPr/>
                    <a:lstStyle/>
                    <a:p>
                      <a:r>
                        <a:rPr sz="1000" b="0" i="0">
                          <a:solidFill>
                            <a:srgbClr val="0F172A"/>
                          </a:solidFill>
                          <a:latin typeface="Arial"/>
                        </a:rPr>
                        <a:t>61.53</a:t>
                      </a:r>
                    </a:p>
                  </a:txBody>
                  <a:tcPr>
                    <a:solidFill>
                      <a:srgbClr val="F1F5F9"/>
                    </a:solidFill>
                  </a:tcPr>
                </a:tc>
                <a:tc>
                  <a:txBody>
                    <a:bodyPr/>
                    <a:lstStyle/>
                    <a:p>
                      <a:r>
                        <a:rPr sz="1000" b="0" i="0">
                          <a:solidFill>
                            <a:srgbClr val="0F172A"/>
                          </a:solidFill>
                          <a:latin typeface="Arial"/>
                        </a:rPr>
                        <a:t>42.78</a:t>
                      </a:r>
                    </a:p>
                  </a:txBody>
                  <a:tcPr>
                    <a:solidFill>
                      <a:srgbClr val="F1F5F9"/>
                    </a:solidFill>
                  </a:tcPr>
                </a:tc>
                <a:tc>
                  <a:txBody>
                    <a:bodyPr/>
                    <a:lstStyle/>
                    <a:p>
                      <a:r>
                        <a:rPr sz="1000" b="0" i="0">
                          <a:solidFill>
                            <a:srgbClr val="0F172A"/>
                          </a:solidFill>
                          <a:latin typeface="Arial"/>
                        </a:rPr>
                        <a:t>Solid sequential optimization but slower inference speeds.</a:t>
                      </a:r>
                    </a:p>
                  </a:txBody>
                  <a:tcPr>
                    <a:solidFill>
                      <a:srgbClr val="F1F5F9"/>
                    </a:solidFill>
                  </a:tcPr>
                </a:tc>
                <a:extLst>
                  <a:ext uri="{0D108BD9-81ED-4DB2-BD59-A6C34878D82A}">
                    <a16:rowId xmlns:a16="http://schemas.microsoft.com/office/drawing/2014/main" val="10002"/>
                  </a:ext>
                </a:extLst>
              </a:tr>
              <a:tr h="574765">
                <a:tc>
                  <a:txBody>
                    <a:bodyPr/>
                    <a:lstStyle/>
                    <a:p>
                      <a:r>
                        <a:rPr sz="1000" b="1" i="0">
                          <a:solidFill>
                            <a:srgbClr val="0F172A"/>
                          </a:solidFill>
                          <a:latin typeface="Arial"/>
                        </a:rPr>
                        <a:t>Decision Tree Regressor</a:t>
                      </a:r>
                    </a:p>
                  </a:txBody>
                  <a:tcPr>
                    <a:solidFill>
                      <a:srgbClr val="FFFFFF"/>
                    </a:solidFill>
                  </a:tcPr>
                </a:tc>
                <a:tc>
                  <a:txBody>
                    <a:bodyPr/>
                    <a:lstStyle/>
                    <a:p>
                      <a:r>
                        <a:rPr sz="1000" b="0" i="0">
                          <a:solidFill>
                            <a:srgbClr val="0F172A"/>
                          </a:solidFill>
                          <a:latin typeface="Arial"/>
                        </a:rPr>
                        <a:t>0.90</a:t>
                      </a:r>
                    </a:p>
                  </a:txBody>
                  <a:tcPr>
                    <a:solidFill>
                      <a:srgbClr val="FFFFFF"/>
                    </a:solidFill>
                  </a:tcPr>
                </a:tc>
                <a:tc>
                  <a:txBody>
                    <a:bodyPr/>
                    <a:lstStyle/>
                    <a:p>
                      <a:r>
                        <a:rPr sz="1000" b="0" i="0">
                          <a:solidFill>
                            <a:srgbClr val="0F172A"/>
                          </a:solidFill>
                          <a:latin typeface="Arial"/>
                        </a:rPr>
                        <a:t>57.35</a:t>
                      </a:r>
                    </a:p>
                  </a:txBody>
                  <a:tcPr>
                    <a:solidFill>
                      <a:srgbClr val="FFFFFF"/>
                    </a:solidFill>
                  </a:tcPr>
                </a:tc>
                <a:tc>
                  <a:txBody>
                    <a:bodyPr/>
                    <a:lstStyle/>
                    <a:p>
                      <a:r>
                        <a:rPr sz="1000" b="0" i="0">
                          <a:solidFill>
                            <a:srgbClr val="0F172A"/>
                          </a:solidFill>
                          <a:latin typeface="Arial"/>
                        </a:rPr>
                        <a:t>33.64</a:t>
                      </a:r>
                    </a:p>
                  </a:txBody>
                  <a:tcPr>
                    <a:solidFill>
                      <a:srgbClr val="FFFFFF"/>
                    </a:solidFill>
                  </a:tcPr>
                </a:tc>
                <a:tc>
                  <a:txBody>
                    <a:bodyPr/>
                    <a:lstStyle/>
                    <a:p>
                      <a:r>
                        <a:rPr sz="1000" b="0" i="0">
                          <a:solidFill>
                            <a:srgbClr val="0F172A"/>
                          </a:solidFill>
                          <a:latin typeface="Arial"/>
                        </a:rPr>
                        <a:t>Highly accurate on train set but suffers high test variance.</a:t>
                      </a:r>
                    </a:p>
                  </a:txBody>
                  <a:tcPr>
                    <a:solidFill>
                      <a:srgbClr val="FFFFFF"/>
                    </a:solidFill>
                  </a:tcPr>
                </a:tc>
                <a:extLst>
                  <a:ext uri="{0D108BD9-81ED-4DB2-BD59-A6C34878D82A}">
                    <a16:rowId xmlns:a16="http://schemas.microsoft.com/office/drawing/2014/main" val="10003"/>
                  </a:ext>
                </a:extLst>
              </a:tr>
              <a:tr h="574765">
                <a:tc>
                  <a:txBody>
                    <a:bodyPr/>
                    <a:lstStyle/>
                    <a:p>
                      <a:r>
                        <a:rPr sz="1000" b="1" i="0">
                          <a:solidFill>
                            <a:srgbClr val="0F172A"/>
                          </a:solidFill>
                          <a:latin typeface="Arial"/>
                        </a:rPr>
                        <a:t>Random Forest Regressor</a:t>
                      </a:r>
                    </a:p>
                  </a:txBody>
                  <a:tcPr>
                    <a:solidFill>
                      <a:srgbClr val="F1F5F9"/>
                    </a:solidFill>
                  </a:tcPr>
                </a:tc>
                <a:tc>
                  <a:txBody>
                    <a:bodyPr/>
                    <a:lstStyle/>
                    <a:p>
                      <a:r>
                        <a:rPr sz="1000" b="0" i="0">
                          <a:solidFill>
                            <a:srgbClr val="0F172A"/>
                          </a:solidFill>
                          <a:latin typeface="Arial"/>
                        </a:rPr>
                        <a:t>0.94</a:t>
                      </a:r>
                    </a:p>
                  </a:txBody>
                  <a:tcPr>
                    <a:solidFill>
                      <a:srgbClr val="F1F5F9"/>
                    </a:solidFill>
                  </a:tcPr>
                </a:tc>
                <a:tc>
                  <a:txBody>
                    <a:bodyPr/>
                    <a:lstStyle/>
                    <a:p>
                      <a:r>
                        <a:rPr sz="1000" b="0" i="0">
                          <a:solidFill>
                            <a:srgbClr val="0F172A"/>
                          </a:solidFill>
                          <a:latin typeface="Arial"/>
                        </a:rPr>
                        <a:t>41.75</a:t>
                      </a:r>
                    </a:p>
                  </a:txBody>
                  <a:tcPr>
                    <a:solidFill>
                      <a:srgbClr val="F1F5F9"/>
                    </a:solidFill>
                  </a:tcPr>
                </a:tc>
                <a:tc>
                  <a:txBody>
                    <a:bodyPr/>
                    <a:lstStyle/>
                    <a:p>
                      <a:r>
                        <a:rPr sz="1000" b="0" i="0">
                          <a:solidFill>
                            <a:srgbClr val="0F172A"/>
                          </a:solidFill>
                          <a:latin typeface="Arial"/>
                        </a:rPr>
                        <a:t>24.61</a:t>
                      </a:r>
                    </a:p>
                  </a:txBody>
                  <a:tcPr>
                    <a:solidFill>
                      <a:srgbClr val="F1F5F9"/>
                    </a:solidFill>
                  </a:tcPr>
                </a:tc>
                <a:tc>
                  <a:txBody>
                    <a:bodyPr/>
                    <a:lstStyle/>
                    <a:p>
                      <a:r>
                        <a:rPr sz="1000" b="0" i="0">
                          <a:solidFill>
                            <a:srgbClr val="0F172A"/>
                          </a:solidFill>
                          <a:latin typeface="Arial"/>
                        </a:rPr>
                        <a:t>Extremely robust ensemble; successfully drops test variance.</a:t>
                      </a:r>
                    </a:p>
                  </a:txBody>
                  <a:tcPr>
                    <a:solidFill>
                      <a:srgbClr val="F1F5F9"/>
                    </a:solidFill>
                  </a:tcPr>
                </a:tc>
                <a:extLst>
                  <a:ext uri="{0D108BD9-81ED-4DB2-BD59-A6C34878D82A}">
                    <a16:rowId xmlns:a16="http://schemas.microsoft.com/office/drawing/2014/main" val="10004"/>
                  </a:ext>
                </a:extLst>
              </a:tr>
              <a:tr h="574765">
                <a:tc>
                  <a:txBody>
                    <a:bodyPr/>
                    <a:lstStyle/>
                    <a:p>
                      <a:r>
                        <a:rPr sz="1000" b="1" i="0">
                          <a:solidFill>
                            <a:srgbClr val="0F172A"/>
                          </a:solidFill>
                          <a:latin typeface="Arial"/>
                        </a:rPr>
                        <a:t>XGBoost Regressor (Baseline)</a:t>
                      </a:r>
                    </a:p>
                  </a:txBody>
                  <a:tcPr>
                    <a:solidFill>
                      <a:srgbClr val="FFFFFF"/>
                    </a:solidFill>
                  </a:tcPr>
                </a:tc>
                <a:tc>
                  <a:txBody>
                    <a:bodyPr/>
                    <a:lstStyle/>
                    <a:p>
                      <a:r>
                        <a:rPr sz="1000" b="0" i="0">
                          <a:solidFill>
                            <a:srgbClr val="0F172A"/>
                          </a:solidFill>
                          <a:latin typeface="Arial"/>
                        </a:rPr>
                        <a:t>0.95</a:t>
                      </a:r>
                    </a:p>
                  </a:txBody>
                  <a:tcPr>
                    <a:solidFill>
                      <a:srgbClr val="FFFFFF"/>
                    </a:solidFill>
                  </a:tcPr>
                </a:tc>
                <a:tc>
                  <a:txBody>
                    <a:bodyPr/>
                    <a:lstStyle/>
                    <a:p>
                      <a:r>
                        <a:rPr sz="1000" b="0" i="0">
                          <a:solidFill>
                            <a:srgbClr val="0F172A"/>
                          </a:solidFill>
                          <a:latin typeface="Arial"/>
                        </a:rPr>
                        <a:t>39.77</a:t>
                      </a:r>
                    </a:p>
                  </a:txBody>
                  <a:tcPr>
                    <a:solidFill>
                      <a:srgbClr val="FFFFFF"/>
                    </a:solidFill>
                  </a:tcPr>
                </a:tc>
                <a:tc>
                  <a:txBody>
                    <a:bodyPr/>
                    <a:lstStyle/>
                    <a:p>
                      <a:r>
                        <a:rPr sz="1000" b="0" i="0">
                          <a:solidFill>
                            <a:srgbClr val="0F172A"/>
                          </a:solidFill>
                          <a:latin typeface="Arial"/>
                        </a:rPr>
                        <a:t>24.78</a:t>
                      </a:r>
                    </a:p>
                  </a:txBody>
                  <a:tcPr>
                    <a:solidFill>
                      <a:srgbClr val="FFFFFF"/>
                    </a:solidFill>
                  </a:tcPr>
                </a:tc>
                <a:tc>
                  <a:txBody>
                    <a:bodyPr/>
                    <a:lstStyle/>
                    <a:p>
                      <a:r>
                        <a:rPr sz="1000" b="0" i="0">
                          <a:solidFill>
                            <a:srgbClr val="0F172A"/>
                          </a:solidFill>
                          <a:latin typeface="Arial"/>
                        </a:rPr>
                        <a:t>Excellent baseline; outpaces traditional RF speed and fit.</a:t>
                      </a:r>
                    </a:p>
                  </a:txBody>
                  <a:tcPr>
                    <a:solidFill>
                      <a:srgbClr val="FFFFFF"/>
                    </a:solidFill>
                  </a:tcPr>
                </a:tc>
                <a:extLst>
                  <a:ext uri="{0D108BD9-81ED-4DB2-BD59-A6C34878D82A}">
                    <a16:rowId xmlns:a16="http://schemas.microsoft.com/office/drawing/2014/main" val="10005"/>
                  </a:ext>
                </a:extLst>
              </a:tr>
              <a:tr h="574770">
                <a:tc>
                  <a:txBody>
                    <a:bodyPr/>
                    <a:lstStyle/>
                    <a:p>
                      <a:r>
                        <a:rPr sz="1000" b="1" i="0">
                          <a:solidFill>
                            <a:srgbClr val="0D9488"/>
                          </a:solidFill>
                          <a:latin typeface="Arial"/>
                        </a:rPr>
                        <a:t>Optimized XGBoost (Tuned Champion)</a:t>
                      </a:r>
                    </a:p>
                  </a:txBody>
                  <a:tcPr>
                    <a:solidFill>
                      <a:srgbClr val="F0FDFA"/>
                    </a:solidFill>
                  </a:tcPr>
                </a:tc>
                <a:tc>
                  <a:txBody>
                    <a:bodyPr/>
                    <a:lstStyle/>
                    <a:p>
                      <a:r>
                        <a:rPr sz="1000" b="1" i="0">
                          <a:solidFill>
                            <a:srgbClr val="0D9488"/>
                          </a:solidFill>
                          <a:latin typeface="Arial"/>
                        </a:rPr>
                        <a:t>0.96</a:t>
                      </a:r>
                    </a:p>
                  </a:txBody>
                  <a:tcPr>
                    <a:solidFill>
                      <a:srgbClr val="F0FDFA"/>
                    </a:solidFill>
                  </a:tcPr>
                </a:tc>
                <a:tc>
                  <a:txBody>
                    <a:bodyPr/>
                    <a:lstStyle/>
                    <a:p>
                      <a:r>
                        <a:rPr sz="1000" b="1" i="0">
                          <a:solidFill>
                            <a:srgbClr val="0D9488"/>
                          </a:solidFill>
                          <a:latin typeface="Arial"/>
                        </a:rPr>
                        <a:t>37.33</a:t>
                      </a:r>
                    </a:p>
                  </a:txBody>
                  <a:tcPr>
                    <a:solidFill>
                      <a:srgbClr val="F0FDFA"/>
                    </a:solidFill>
                  </a:tcPr>
                </a:tc>
                <a:tc>
                  <a:txBody>
                    <a:bodyPr/>
                    <a:lstStyle/>
                    <a:p>
                      <a:r>
                        <a:rPr sz="1000" b="1" i="0">
                          <a:solidFill>
                            <a:srgbClr val="0D9488"/>
                          </a:solidFill>
                          <a:latin typeface="Arial"/>
                        </a:rPr>
                        <a:t>22.62</a:t>
                      </a:r>
                    </a:p>
                  </a:txBody>
                  <a:tcPr>
                    <a:solidFill>
                      <a:srgbClr val="F0FDFA"/>
                    </a:solidFill>
                  </a:tcPr>
                </a:tc>
                <a:tc>
                  <a:txBody>
                    <a:bodyPr/>
                    <a:lstStyle/>
                    <a:p>
                      <a:r>
                        <a:rPr sz="1000" b="1" i="0">
                          <a:solidFill>
                            <a:srgbClr val="0F172A"/>
                          </a:solidFill>
                          <a:latin typeface="Arial"/>
                        </a:rPr>
                        <a:t>Peak generalization; regularized trees eliminate overfit.</a:t>
                      </a:r>
                    </a:p>
                  </a:txBody>
                  <a:tcPr>
                    <a:solidFill>
                      <a:srgbClr val="F0FDFA"/>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5912" cy="731520"/>
          </a:xfrm>
          <a:prstGeom prst="rect">
            <a:avLst/>
          </a:prstGeom>
          <a:noFill/>
        </p:spPr>
        <p:txBody>
          <a:bodyPr wrap="square" lIns="0" tIns="0" rIns="0" bIns="0">
            <a:spAutoFit/>
          </a:bodyPr>
          <a:lstStyle/>
          <a:p>
            <a:r>
              <a:rPr sz="2600" b="1" i="0">
                <a:solidFill>
                  <a:srgbClr val="0F172A"/>
                </a:solidFill>
                <a:latin typeface="Georgia"/>
              </a:rPr>
              <a:t>Final Model: The Tuned XGBoost Champion</a:t>
            </a:r>
          </a:p>
        </p:txBody>
      </p:sp>
      <p:sp>
        <p:nvSpPr>
          <p:cNvPr id="3" name="Rectangle 2"/>
          <p:cNvSpPr/>
          <p:nvPr/>
        </p:nvSpPr>
        <p:spPr>
          <a:xfrm>
            <a:off x="731520" y="1051560"/>
            <a:ext cx="10725912" cy="25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0" y="6400800"/>
            <a:ext cx="731520" cy="274320"/>
          </a:xfrm>
          <a:prstGeom prst="rect">
            <a:avLst/>
          </a:prstGeom>
          <a:noFill/>
        </p:spPr>
        <p:txBody>
          <a:bodyPr wrap="square">
            <a:spAutoFit/>
          </a:bodyPr>
          <a:lstStyle/>
          <a:p>
            <a:pPr algn="r"/>
            <a:r>
              <a:rPr sz="1000" b="0" i="0">
                <a:solidFill>
                  <a:srgbClr val="64748B"/>
                </a:solidFill>
                <a:latin typeface="Arial"/>
              </a:rPr>
              <a:t>17</a:t>
            </a:r>
          </a:p>
        </p:txBody>
      </p:sp>
      <p:sp>
        <p:nvSpPr>
          <p:cNvPr id="5" name="TextBox 4"/>
          <p:cNvSpPr txBox="1"/>
          <p:nvPr/>
        </p:nvSpPr>
        <p:spPr>
          <a:xfrm>
            <a:off x="731520" y="6400800"/>
            <a:ext cx="4572000" cy="274320"/>
          </a:xfrm>
          <a:prstGeom prst="rect">
            <a:avLst/>
          </a:prstGeom>
          <a:noFill/>
        </p:spPr>
        <p:txBody>
          <a:bodyPr wrap="none">
            <a:spAutoFit/>
          </a:bodyPr>
          <a:lstStyle/>
          <a:p>
            <a:r>
              <a:rPr sz="1000" b="0" i="0">
                <a:solidFill>
                  <a:srgbClr val="64748B"/>
                </a:solidFill>
                <a:latin typeface="Arial"/>
              </a:rPr>
              <a:t>Bike Rental Demand Prediction | ML Project Presentation</a:t>
            </a:r>
          </a:p>
        </p:txBody>
      </p:sp>
      <p:sp>
        <p:nvSpPr>
          <p:cNvPr id="6" name="Rounded Rectangle 5"/>
          <p:cNvSpPr/>
          <p:nvPr/>
        </p:nvSpPr>
        <p:spPr>
          <a:xfrm>
            <a:off x="731520" y="1645920"/>
            <a:ext cx="5120640" cy="4114800"/>
          </a:xfrm>
          <a:prstGeom prst="roundRect">
            <a:avLst/>
          </a:prstGeom>
          <a:solidFill>
            <a:srgbClr val="F0FDFA"/>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828800"/>
            <a:ext cx="4754880" cy="3749039"/>
          </a:xfrm>
          <a:prstGeom prst="rect">
            <a:avLst/>
          </a:prstGeom>
          <a:noFill/>
        </p:spPr>
        <p:txBody>
          <a:bodyPr wrap="square">
            <a:spAutoFit/>
          </a:bodyPr>
          <a:lstStyle/>
          <a:p>
            <a:pPr>
              <a:spcAft>
                <a:spcPts val="1200"/>
              </a:spcAft>
            </a:pPr>
            <a:r>
              <a:rPr sz="2000" b="1" i="0">
                <a:solidFill>
                  <a:srgbClr val="0D9488"/>
                </a:solidFill>
                <a:latin typeface="Georgia"/>
              </a:rPr>
              <a:t>Production Selection &amp; Justification</a:t>
            </a:r>
          </a:p>
          <a:p>
            <a:pPr>
              <a:spcAft>
                <a:spcPts val="1200"/>
              </a:spcAft>
            </a:pPr>
            <a:r>
              <a:rPr sz="1200" b="1" i="0">
                <a:solidFill>
                  <a:srgbClr val="0F172A"/>
                </a:solidFill>
                <a:latin typeface="Arial"/>
              </a:rPr>
              <a:t>Unrivaled Predictive Power:</a:t>
            </a:r>
            <a:r>
              <a:rPr sz="1200" b="0" i="0">
                <a:solidFill>
                  <a:srgbClr val="0F172A"/>
                </a:solidFill>
                <a:latin typeface="Arial"/>
              </a:rPr>
              <a:t> Selected champion explains 96% of testing set variance (R2 = 0.96).</a:t>
            </a:r>
          </a:p>
          <a:p>
            <a:pPr>
              <a:spcAft>
                <a:spcPts val="1200"/>
              </a:spcAft>
            </a:pPr>
            <a:r>
              <a:rPr sz="1200" b="1" i="0">
                <a:solidFill>
                  <a:srgbClr val="0F172A"/>
                </a:solidFill>
                <a:latin typeface="Arial"/>
              </a:rPr>
              <a:t>Tight Margin of Error:</a:t>
            </a:r>
            <a:r>
              <a:rPr sz="1200" b="0" i="0">
                <a:solidFill>
                  <a:srgbClr val="0F172A"/>
                </a:solidFill>
                <a:latin typeface="Arial"/>
              </a:rPr>
              <a:t> Limits average predictions to within ~22.62 bikes of actual demand (MAE = 22.62).</a:t>
            </a:r>
          </a:p>
          <a:p>
            <a:pPr>
              <a:spcAft>
                <a:spcPts val="1200"/>
              </a:spcAft>
            </a:pPr>
            <a:r>
              <a:rPr sz="1200" b="1" i="0">
                <a:solidFill>
                  <a:srgbClr val="0F172A"/>
                </a:solidFill>
                <a:latin typeface="Arial"/>
              </a:rPr>
              <a:t>Generalization Guard:</a:t>
            </a:r>
            <a:r>
              <a:rPr sz="1200" b="0" i="0">
                <a:solidFill>
                  <a:srgbClr val="0F172A"/>
                </a:solidFill>
                <a:latin typeface="Arial"/>
              </a:rPr>
              <a:t> Custom max_depth=7 and subsample=0.9 hyperparameter bounds prevent overfitting, rendering the model highly resilient to sudden operational anomalies.</a:t>
            </a:r>
          </a:p>
        </p:txBody>
      </p:sp>
      <p:sp>
        <p:nvSpPr>
          <p:cNvPr id="8" name="Rounded Rectangle 7"/>
          <p:cNvSpPr/>
          <p:nvPr/>
        </p:nvSpPr>
        <p:spPr>
          <a:xfrm>
            <a:off x="6309360" y="1645920"/>
            <a:ext cx="512064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0" y="1828800"/>
            <a:ext cx="4754880" cy="3749039"/>
          </a:xfrm>
          <a:prstGeom prst="rect">
            <a:avLst/>
          </a:prstGeom>
          <a:noFill/>
        </p:spPr>
        <p:txBody>
          <a:bodyPr wrap="square">
            <a:spAutoFit/>
          </a:bodyPr>
          <a:lstStyle/>
          <a:p>
            <a:pPr>
              <a:spcAft>
                <a:spcPts val="1200"/>
              </a:spcAft>
            </a:pPr>
            <a:r>
              <a:rPr sz="2000" b="1" i="0">
                <a:solidFill>
                  <a:srgbClr val="0F172A"/>
                </a:solidFill>
                <a:latin typeface="Georgia"/>
              </a:rPr>
              <a:t>Model Serialization &amp; Assets</a:t>
            </a:r>
          </a:p>
          <a:p>
            <a:pPr>
              <a:spcAft>
                <a:spcPts val="1200"/>
              </a:spcAft>
            </a:pPr>
            <a:r>
              <a:rPr sz="1200" b="1" i="0">
                <a:solidFill>
                  <a:srgbClr val="0F172A"/>
                </a:solidFill>
                <a:latin typeface="Arial"/>
              </a:rPr>
              <a:t>Model Serialization:</a:t>
            </a:r>
            <a:r>
              <a:rPr sz="1200" b="0" i="0">
                <a:solidFill>
                  <a:srgbClr val="0F172A"/>
                </a:solidFill>
                <a:latin typeface="Arial"/>
              </a:rPr>
              <a:t> Exported the core optimized tree network into a lightweight JSON file (optimized_xgboost_model.json). Ensures fast sub-millisecond loads in deployment.</a:t>
            </a:r>
          </a:p>
          <a:p>
            <a:pPr>
              <a:spcAft>
                <a:spcPts val="1200"/>
              </a:spcAft>
            </a:pPr>
            <a:r>
              <a:rPr sz="1200" b="1" i="0">
                <a:solidFill>
                  <a:srgbClr val="0F172A"/>
                </a:solidFill>
                <a:latin typeface="Arial"/>
              </a:rPr>
              <a:t>Inference Preprocessors:</a:t>
            </a:r>
            <a:r>
              <a:rPr sz="1200" b="0" i="0">
                <a:solidFill>
                  <a:srgbClr val="0F172A"/>
                </a:solidFill>
                <a:latin typeface="Arial"/>
              </a:rPr>
              <a:t> Serialized the fitted StandardScaler scaler.pkl and label encoders as joblib pickle files.</a:t>
            </a:r>
          </a:p>
          <a:p>
            <a:pPr>
              <a:spcAft>
                <a:spcPts val="1200"/>
              </a:spcAft>
            </a:pPr>
            <a:r>
              <a:rPr sz="1200" b="1" i="0">
                <a:solidFill>
                  <a:srgbClr val="0F172A"/>
                </a:solidFill>
                <a:latin typeface="Arial"/>
              </a:rPr>
              <a:t>Strict Pipelines:</a:t>
            </a:r>
            <a:r>
              <a:rPr sz="1200" b="0" i="0">
                <a:solidFill>
                  <a:srgbClr val="0F172A"/>
                </a:solidFill>
                <a:latin typeface="Arial"/>
              </a:rPr>
              <a:t> Ensures identical scaling, ordering, and categorical translation during production inference.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5912" cy="731520"/>
          </a:xfrm>
          <a:prstGeom prst="rect">
            <a:avLst/>
          </a:prstGeom>
          <a:noFill/>
        </p:spPr>
        <p:txBody>
          <a:bodyPr wrap="square" lIns="0" tIns="0" rIns="0" bIns="0">
            <a:spAutoFit/>
          </a:bodyPr>
          <a:lstStyle/>
          <a:p>
            <a:r>
              <a:rPr sz="2600" b="1" i="0">
                <a:solidFill>
                  <a:srgbClr val="0F172A"/>
                </a:solidFill>
                <a:latin typeface="Georgia"/>
              </a:rPr>
              <a:t>Prediction Results: Model Diagnostics &amp; Residuals</a:t>
            </a:r>
          </a:p>
        </p:txBody>
      </p:sp>
      <p:sp>
        <p:nvSpPr>
          <p:cNvPr id="3" name="Rectangle 2"/>
          <p:cNvSpPr/>
          <p:nvPr/>
        </p:nvSpPr>
        <p:spPr>
          <a:xfrm>
            <a:off x="731520" y="1051560"/>
            <a:ext cx="10725912" cy="25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0" y="6400800"/>
            <a:ext cx="731520" cy="274320"/>
          </a:xfrm>
          <a:prstGeom prst="rect">
            <a:avLst/>
          </a:prstGeom>
          <a:noFill/>
        </p:spPr>
        <p:txBody>
          <a:bodyPr wrap="square">
            <a:spAutoFit/>
          </a:bodyPr>
          <a:lstStyle/>
          <a:p>
            <a:pPr algn="r"/>
            <a:r>
              <a:rPr sz="1000" b="0" i="0">
                <a:solidFill>
                  <a:srgbClr val="64748B"/>
                </a:solidFill>
                <a:latin typeface="Arial"/>
              </a:rPr>
              <a:t>18</a:t>
            </a:r>
          </a:p>
        </p:txBody>
      </p:sp>
      <p:sp>
        <p:nvSpPr>
          <p:cNvPr id="5" name="TextBox 4"/>
          <p:cNvSpPr txBox="1"/>
          <p:nvPr/>
        </p:nvSpPr>
        <p:spPr>
          <a:xfrm>
            <a:off x="731520" y="6400800"/>
            <a:ext cx="4572000" cy="274320"/>
          </a:xfrm>
          <a:prstGeom prst="rect">
            <a:avLst/>
          </a:prstGeom>
          <a:noFill/>
        </p:spPr>
        <p:txBody>
          <a:bodyPr wrap="none">
            <a:spAutoFit/>
          </a:bodyPr>
          <a:lstStyle/>
          <a:p>
            <a:r>
              <a:rPr sz="1000" b="0" i="0">
                <a:solidFill>
                  <a:srgbClr val="64748B"/>
                </a:solidFill>
                <a:latin typeface="Arial"/>
              </a:rPr>
              <a:t>Bike Rental Demand Prediction | ML Project Presentation</a:t>
            </a:r>
          </a:p>
        </p:txBody>
      </p:sp>
      <p:sp>
        <p:nvSpPr>
          <p:cNvPr id="6" name="Rounded Rectangle 5"/>
          <p:cNvSpPr/>
          <p:nvPr/>
        </p:nvSpPr>
        <p:spPr>
          <a:xfrm>
            <a:off x="731520" y="1645920"/>
            <a:ext cx="5120640" cy="41148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926080"/>
            <a:ext cx="4754880" cy="369332"/>
          </a:xfrm>
          <a:prstGeom prst="rect">
            <a:avLst/>
          </a:prstGeom>
          <a:noFill/>
        </p:spPr>
        <p:txBody>
          <a:bodyPr wrap="square">
            <a:spAutoFit/>
          </a:bodyPr>
          <a:lstStyle/>
          <a:p>
            <a:pPr algn="ctr">
              <a:spcAft>
                <a:spcPts val="800"/>
              </a:spcAft>
            </a:pPr>
            <a:r>
              <a:rPr dirty="0"/>
              <a:t>t</a:t>
            </a:r>
          </a:p>
        </p:txBody>
      </p:sp>
      <p:sp>
        <p:nvSpPr>
          <p:cNvPr id="8" name="Rounded Rectangle 7"/>
          <p:cNvSpPr/>
          <p:nvPr/>
        </p:nvSpPr>
        <p:spPr>
          <a:xfrm>
            <a:off x="6309360" y="1645920"/>
            <a:ext cx="512064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0" y="2074606"/>
            <a:ext cx="4754880" cy="3016210"/>
          </a:xfrm>
          <a:prstGeom prst="rect">
            <a:avLst/>
          </a:prstGeom>
          <a:noFill/>
        </p:spPr>
        <p:txBody>
          <a:bodyPr wrap="square">
            <a:spAutoFit/>
          </a:bodyPr>
          <a:lstStyle/>
          <a:p>
            <a:pPr>
              <a:spcAft>
                <a:spcPts val="1200"/>
              </a:spcAft>
            </a:pPr>
            <a:r>
              <a:rPr sz="2000" b="1" i="0" dirty="0">
                <a:solidFill>
                  <a:srgbClr val="0D9488"/>
                </a:solidFill>
                <a:latin typeface="Georgia"/>
              </a:rPr>
              <a:t>Key Analytical Insights</a:t>
            </a:r>
          </a:p>
          <a:p>
            <a:pPr>
              <a:spcAft>
                <a:spcPts val="1200"/>
              </a:spcAft>
            </a:pPr>
            <a:r>
              <a:rPr sz="1300" b="1" i="0" dirty="0">
                <a:solidFill>
                  <a:srgbClr val="0F172A"/>
                </a:solidFill>
                <a:latin typeface="Arial"/>
              </a:rPr>
              <a:t>Actual vs. Predicted Alignment:</a:t>
            </a:r>
            <a:r>
              <a:rPr sz="1300" b="0" i="0" dirty="0">
                <a:solidFill>
                  <a:srgbClr val="0F172A"/>
                </a:solidFill>
                <a:latin typeface="Arial"/>
              </a:rPr>
              <a:t> Scatter plotting demonstrates tight, highly linear aggregation along the y=x diagonal across all volume ranges.</a:t>
            </a:r>
          </a:p>
          <a:p>
            <a:pPr>
              <a:spcAft>
                <a:spcPts val="1200"/>
              </a:spcAft>
            </a:pPr>
            <a:r>
              <a:rPr sz="1300" b="1" i="0" dirty="0">
                <a:solidFill>
                  <a:srgbClr val="0F172A"/>
                </a:solidFill>
                <a:latin typeface="Arial"/>
              </a:rPr>
              <a:t>Unbiased Error Spread:</a:t>
            </a:r>
            <a:r>
              <a:rPr sz="1300" b="0" i="0" dirty="0">
                <a:solidFill>
                  <a:srgbClr val="0F172A"/>
                </a:solidFill>
                <a:latin typeface="Arial"/>
              </a:rPr>
              <a:t> Residuals exhibit a mean extremely close to zero (-0.55), proving the model has zero systemic bias.</a:t>
            </a:r>
          </a:p>
          <a:p>
            <a:pPr>
              <a:spcAft>
                <a:spcPts val="1200"/>
              </a:spcAft>
            </a:pPr>
            <a:r>
              <a:rPr sz="1300" b="1" i="0" dirty="0">
                <a:solidFill>
                  <a:srgbClr val="0F172A"/>
                </a:solidFill>
                <a:latin typeface="Arial"/>
              </a:rPr>
              <a:t>Normally Distributed Residuals:</a:t>
            </a:r>
            <a:r>
              <a:rPr sz="1300" b="0" i="0" dirty="0">
                <a:solidFill>
                  <a:srgbClr val="0F172A"/>
                </a:solidFill>
                <a:latin typeface="Arial"/>
              </a:rPr>
              <a:t> Plotting residual counts shows a highly symmetric normal distribution centered at zero.</a:t>
            </a:r>
          </a:p>
          <a:p>
            <a:pPr>
              <a:spcAft>
                <a:spcPts val="1200"/>
              </a:spcAft>
            </a:pPr>
            <a:r>
              <a:rPr sz="1300" b="1" i="0" dirty="0">
                <a:solidFill>
                  <a:srgbClr val="0F172A"/>
                </a:solidFill>
                <a:latin typeface="Arial"/>
              </a:rPr>
              <a:t>Stable Variance :</a:t>
            </a:r>
            <a:r>
              <a:rPr sz="1300" b="0" i="0" dirty="0">
                <a:solidFill>
                  <a:srgbClr val="0F172A"/>
                </a:solidFill>
                <a:latin typeface="Arial"/>
              </a:rPr>
              <a:t> Residual scale remains stable across both low-volume nights and extreme rush hour spikes.</a:t>
            </a:r>
          </a:p>
        </p:txBody>
      </p:sp>
      <p:pic>
        <p:nvPicPr>
          <p:cNvPr id="11" name="Picture 10">
            <a:extLst>
              <a:ext uri="{FF2B5EF4-FFF2-40B4-BE49-F238E27FC236}">
                <a16:creationId xmlns:a16="http://schemas.microsoft.com/office/drawing/2014/main" id="{DE5C0396-617A-89F6-7C8E-BA696B7AAAE2}"/>
              </a:ext>
            </a:extLst>
          </p:cNvPr>
          <p:cNvPicPr>
            <a:picLocks noChangeAspect="1"/>
          </p:cNvPicPr>
          <p:nvPr/>
        </p:nvPicPr>
        <p:blipFill>
          <a:blip r:embed="rId2"/>
          <a:stretch>
            <a:fillRect/>
          </a:stretch>
        </p:blipFill>
        <p:spPr>
          <a:xfrm>
            <a:off x="266196" y="1599835"/>
            <a:ext cx="5814564" cy="420660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DBC357A1-2C7C-B19A-7CCA-045B53F2A584}"/>
              </a:ext>
            </a:extLst>
          </p:cNvPr>
          <p:cNvPicPr>
            <a:picLocks noChangeAspect="1"/>
          </p:cNvPicPr>
          <p:nvPr/>
        </p:nvPicPr>
        <p:blipFill>
          <a:blip r:embed="rId2"/>
          <a:stretch>
            <a:fillRect/>
          </a:stretch>
        </p:blipFill>
        <p:spPr>
          <a:xfrm>
            <a:off x="295988" y="673995"/>
            <a:ext cx="11600024" cy="551000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30989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5912" cy="731520"/>
          </a:xfrm>
          <a:prstGeom prst="rect">
            <a:avLst/>
          </a:prstGeom>
          <a:noFill/>
        </p:spPr>
        <p:txBody>
          <a:bodyPr wrap="square" lIns="0" tIns="0" rIns="0" bIns="0">
            <a:spAutoFit/>
          </a:bodyPr>
          <a:lstStyle/>
          <a:p>
            <a:r>
              <a:rPr sz="2600" b="1" i="0">
                <a:solidFill>
                  <a:srgbClr val="0F172A"/>
                </a:solidFill>
                <a:latin typeface="Georgia"/>
              </a:rPr>
              <a:t>Streamlit Application: Interactive Demand Predicting</a:t>
            </a:r>
          </a:p>
        </p:txBody>
      </p:sp>
      <p:sp>
        <p:nvSpPr>
          <p:cNvPr id="3" name="Rectangle 2"/>
          <p:cNvSpPr/>
          <p:nvPr/>
        </p:nvSpPr>
        <p:spPr>
          <a:xfrm>
            <a:off x="731520" y="1051560"/>
            <a:ext cx="10725912" cy="25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0" y="6400800"/>
            <a:ext cx="731520" cy="274320"/>
          </a:xfrm>
          <a:prstGeom prst="rect">
            <a:avLst/>
          </a:prstGeom>
          <a:noFill/>
        </p:spPr>
        <p:txBody>
          <a:bodyPr wrap="square">
            <a:spAutoFit/>
          </a:bodyPr>
          <a:lstStyle/>
          <a:p>
            <a:pPr algn="r"/>
            <a:r>
              <a:rPr sz="1000" b="0" i="0">
                <a:solidFill>
                  <a:srgbClr val="64748B"/>
                </a:solidFill>
                <a:latin typeface="Arial"/>
              </a:rPr>
              <a:t>19</a:t>
            </a:r>
          </a:p>
        </p:txBody>
      </p:sp>
      <p:sp>
        <p:nvSpPr>
          <p:cNvPr id="5" name="TextBox 4"/>
          <p:cNvSpPr txBox="1"/>
          <p:nvPr/>
        </p:nvSpPr>
        <p:spPr>
          <a:xfrm>
            <a:off x="731520" y="6400800"/>
            <a:ext cx="4572000" cy="274320"/>
          </a:xfrm>
          <a:prstGeom prst="rect">
            <a:avLst/>
          </a:prstGeom>
          <a:noFill/>
        </p:spPr>
        <p:txBody>
          <a:bodyPr wrap="none">
            <a:spAutoFit/>
          </a:bodyPr>
          <a:lstStyle/>
          <a:p>
            <a:r>
              <a:rPr sz="1000" b="0" i="0">
                <a:solidFill>
                  <a:srgbClr val="64748B"/>
                </a:solidFill>
                <a:latin typeface="Arial"/>
              </a:rPr>
              <a:t>Bike Rental Demand Prediction | ML Project Presentation</a:t>
            </a:r>
          </a:p>
        </p:txBody>
      </p:sp>
      <p:sp>
        <p:nvSpPr>
          <p:cNvPr id="8" name="Rounded Rectangle 7"/>
          <p:cNvSpPr/>
          <p:nvPr/>
        </p:nvSpPr>
        <p:spPr>
          <a:xfrm>
            <a:off x="1219200" y="1645920"/>
            <a:ext cx="1021080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844842" y="2011204"/>
            <a:ext cx="9402278" cy="2954655"/>
          </a:xfrm>
          <a:prstGeom prst="rect">
            <a:avLst/>
          </a:prstGeom>
          <a:noFill/>
        </p:spPr>
        <p:txBody>
          <a:bodyPr wrap="square">
            <a:spAutoFit/>
          </a:bodyPr>
          <a:lstStyle/>
          <a:p>
            <a:pPr>
              <a:spcAft>
                <a:spcPts val="1200"/>
              </a:spcAft>
            </a:pPr>
            <a:r>
              <a:rPr b="1" i="0" dirty="0">
                <a:solidFill>
                  <a:srgbClr val="EA580C"/>
                </a:solidFill>
                <a:latin typeface="Georgia"/>
              </a:rPr>
              <a:t>Key Analytical Insights</a:t>
            </a:r>
          </a:p>
          <a:p>
            <a:pPr>
              <a:spcAft>
                <a:spcPts val="1200"/>
              </a:spcAft>
            </a:pPr>
            <a:r>
              <a:rPr sz="1600" b="1" i="0" dirty="0">
                <a:solidFill>
                  <a:srgbClr val="0F172A"/>
                </a:solidFill>
                <a:latin typeface="Arial"/>
              </a:rPr>
              <a:t>Operations-First Design:</a:t>
            </a:r>
            <a:r>
              <a:rPr sz="1600" b="0" i="0" dirty="0">
                <a:solidFill>
                  <a:srgbClr val="0F172A"/>
                </a:solidFill>
                <a:latin typeface="Arial"/>
              </a:rPr>
              <a:t> Developed an interactive, low-latency UI (app.py) enabling operators to anticipate localized docking demand.</a:t>
            </a:r>
          </a:p>
          <a:p>
            <a:pPr>
              <a:spcAft>
                <a:spcPts val="1200"/>
              </a:spcAft>
            </a:pPr>
            <a:r>
              <a:rPr sz="1600" b="1" i="0" dirty="0">
                <a:solidFill>
                  <a:srgbClr val="0F172A"/>
                </a:solidFill>
                <a:latin typeface="Arial"/>
              </a:rPr>
              <a:t>Dynamic Inputs:</a:t>
            </a:r>
            <a:r>
              <a:rPr sz="1600" b="0" i="0" dirty="0">
                <a:solidFill>
                  <a:srgbClr val="0F172A"/>
                </a:solidFill>
                <a:latin typeface="Arial"/>
              </a:rPr>
              <a:t> Incorporates intuitive </a:t>
            </a:r>
            <a:r>
              <a:rPr sz="1600" b="0" i="0" dirty="0" err="1">
                <a:solidFill>
                  <a:srgbClr val="0F172A"/>
                </a:solidFill>
                <a:latin typeface="Arial"/>
              </a:rPr>
              <a:t>selectboxes</a:t>
            </a:r>
            <a:r>
              <a:rPr sz="1600" b="0" i="0" dirty="0">
                <a:solidFill>
                  <a:srgbClr val="0F172A"/>
                </a:solidFill>
                <a:latin typeface="Arial"/>
              </a:rPr>
              <a:t> for calendar inputs alongside numeric sliders for continuous weather sensors.</a:t>
            </a:r>
          </a:p>
          <a:p>
            <a:pPr>
              <a:spcAft>
                <a:spcPts val="1200"/>
              </a:spcAft>
            </a:pPr>
            <a:r>
              <a:rPr sz="1600" b="1" i="0" dirty="0">
                <a:solidFill>
                  <a:srgbClr val="0F172A"/>
                </a:solidFill>
                <a:latin typeface="Arial"/>
              </a:rPr>
              <a:t>Automated Preprocessing:</a:t>
            </a:r>
            <a:r>
              <a:rPr sz="1600" b="0" i="0" dirty="0">
                <a:solidFill>
                  <a:srgbClr val="0F172A"/>
                </a:solidFill>
                <a:latin typeface="Arial"/>
              </a:rPr>
              <a:t> Automatically crafts custom </a:t>
            </a:r>
            <a:r>
              <a:rPr sz="1600" b="0" i="0" dirty="0" err="1">
                <a:solidFill>
                  <a:srgbClr val="0F172A"/>
                </a:solidFill>
                <a:latin typeface="Arial"/>
              </a:rPr>
              <a:t>Peak_Hour</a:t>
            </a:r>
            <a:r>
              <a:rPr sz="1600" b="0" i="0" dirty="0">
                <a:solidFill>
                  <a:srgbClr val="0F172A"/>
                </a:solidFill>
                <a:latin typeface="Arial"/>
              </a:rPr>
              <a:t> and </a:t>
            </a:r>
            <a:r>
              <a:rPr sz="1600" b="0" i="0" dirty="0" err="1">
                <a:solidFill>
                  <a:srgbClr val="0F172A"/>
                </a:solidFill>
                <a:latin typeface="Arial"/>
              </a:rPr>
              <a:t>hour_bucket_str</a:t>
            </a:r>
            <a:r>
              <a:rPr sz="1600" b="0" i="0" dirty="0">
                <a:solidFill>
                  <a:srgbClr val="0F172A"/>
                </a:solidFill>
                <a:latin typeface="Arial"/>
              </a:rPr>
              <a:t> categories, then normalizes weather metrics via pickled preprocessors.</a:t>
            </a:r>
          </a:p>
          <a:p>
            <a:pPr>
              <a:spcAft>
                <a:spcPts val="1200"/>
              </a:spcAft>
            </a:pPr>
            <a:r>
              <a:rPr sz="1600" b="1" i="0" dirty="0">
                <a:solidFill>
                  <a:srgbClr val="0F172A"/>
                </a:solidFill>
                <a:latin typeface="Arial"/>
              </a:rPr>
              <a:t>Instant Inference:</a:t>
            </a:r>
            <a:r>
              <a:rPr sz="1600" b="0" i="0" dirty="0">
                <a:solidFill>
                  <a:srgbClr val="0F172A"/>
                </a:solidFill>
                <a:latin typeface="Arial"/>
              </a:rPr>
              <a:t> Loads serialized JSON models to deliver forecasts immediately (&lt;50ms) upon parameter adjustment.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5912" cy="731520"/>
          </a:xfrm>
          <a:prstGeom prst="rect">
            <a:avLst/>
          </a:prstGeom>
          <a:noFill/>
        </p:spPr>
        <p:txBody>
          <a:bodyPr wrap="square" lIns="0" tIns="0" rIns="0" bIns="0">
            <a:spAutoFit/>
          </a:bodyPr>
          <a:lstStyle/>
          <a:p>
            <a:r>
              <a:rPr sz="2600" b="1" i="0">
                <a:solidFill>
                  <a:srgbClr val="0F172A"/>
                </a:solidFill>
                <a:latin typeface="Georgia"/>
              </a:rPr>
              <a:t>Key Challenges &amp; Technical Engineering Solutions</a:t>
            </a:r>
          </a:p>
        </p:txBody>
      </p:sp>
      <p:sp>
        <p:nvSpPr>
          <p:cNvPr id="3" name="Rectangle 2"/>
          <p:cNvSpPr/>
          <p:nvPr/>
        </p:nvSpPr>
        <p:spPr>
          <a:xfrm>
            <a:off x="731520" y="1051560"/>
            <a:ext cx="10725912" cy="25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0" y="6400800"/>
            <a:ext cx="731520" cy="274320"/>
          </a:xfrm>
          <a:prstGeom prst="rect">
            <a:avLst/>
          </a:prstGeom>
          <a:noFill/>
        </p:spPr>
        <p:txBody>
          <a:bodyPr wrap="square">
            <a:spAutoFit/>
          </a:bodyPr>
          <a:lstStyle/>
          <a:p>
            <a:pPr algn="r"/>
            <a:r>
              <a:rPr sz="1000" b="0" i="0">
                <a:solidFill>
                  <a:srgbClr val="64748B"/>
                </a:solidFill>
                <a:latin typeface="Arial"/>
              </a:rPr>
              <a:t>20</a:t>
            </a:r>
          </a:p>
        </p:txBody>
      </p:sp>
      <p:sp>
        <p:nvSpPr>
          <p:cNvPr id="5" name="TextBox 4"/>
          <p:cNvSpPr txBox="1"/>
          <p:nvPr/>
        </p:nvSpPr>
        <p:spPr>
          <a:xfrm>
            <a:off x="731520" y="6400800"/>
            <a:ext cx="4572000" cy="274320"/>
          </a:xfrm>
          <a:prstGeom prst="rect">
            <a:avLst/>
          </a:prstGeom>
          <a:noFill/>
        </p:spPr>
        <p:txBody>
          <a:bodyPr wrap="none">
            <a:spAutoFit/>
          </a:bodyPr>
          <a:lstStyle/>
          <a:p>
            <a:r>
              <a:rPr sz="1000" b="0" i="0">
                <a:solidFill>
                  <a:srgbClr val="64748B"/>
                </a:solidFill>
                <a:latin typeface="Arial"/>
              </a:rPr>
              <a:t>Bike Rental Demand Prediction | ML Project Presentation</a:t>
            </a:r>
          </a:p>
        </p:txBody>
      </p:sp>
      <p:sp>
        <p:nvSpPr>
          <p:cNvPr id="6" name="Rounded Rectangle 5"/>
          <p:cNvSpPr/>
          <p:nvPr/>
        </p:nvSpPr>
        <p:spPr>
          <a:xfrm>
            <a:off x="731520" y="1645920"/>
            <a:ext cx="5120640" cy="1920240"/>
          </a:xfrm>
          <a:prstGeom prst="roundRect">
            <a:avLst/>
          </a:prstGeom>
          <a:solidFill>
            <a:srgbClr val="F0FDFA"/>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783080"/>
            <a:ext cx="4754880" cy="1645920"/>
          </a:xfrm>
          <a:prstGeom prst="rect">
            <a:avLst/>
          </a:prstGeom>
          <a:noFill/>
        </p:spPr>
        <p:txBody>
          <a:bodyPr wrap="square">
            <a:spAutoFit/>
          </a:bodyPr>
          <a:lstStyle/>
          <a:p>
            <a:pPr>
              <a:spcAft>
                <a:spcPts val="600"/>
              </a:spcAft>
            </a:pPr>
            <a:r>
              <a:rPr sz="1500" b="1" i="0">
                <a:solidFill>
                  <a:srgbClr val="0D9488"/>
                </a:solidFill>
                <a:latin typeface="Georgia"/>
              </a:rPr>
              <a:t>Dirty Data &amp; Incomplete Records</a:t>
            </a:r>
          </a:p>
          <a:p>
            <a:pPr>
              <a:spcAft>
                <a:spcPts val="400"/>
              </a:spcAft>
            </a:pPr>
            <a:r>
              <a:rPr sz="1000" b="1" i="0">
                <a:solidFill>
                  <a:srgbClr val="0F172A"/>
                </a:solidFill>
                <a:latin typeface="Arial"/>
              </a:rPr>
              <a:t>Challenge:</a:t>
            </a:r>
            <a:r>
              <a:rPr sz="1000" b="0" i="0">
                <a:solidFill>
                  <a:srgbClr val="0F172A"/>
                </a:solidFill>
                <a:latin typeface="Arial"/>
              </a:rPr>
              <a:t> Raw files had non-standard '?' missing markers and misspelled text ('springer').</a:t>
            </a:r>
          </a:p>
          <a:p>
            <a:pPr>
              <a:spcAft>
                <a:spcPts val="400"/>
              </a:spcAft>
            </a:pPr>
            <a:r>
              <a:rPr sz="1000" b="1" i="0">
                <a:solidFill>
                  <a:srgbClr val="0F172A"/>
                </a:solidFill>
                <a:latin typeface="Arial"/>
              </a:rPr>
              <a:t>Solution:</a:t>
            </a:r>
            <a:r>
              <a:rPr sz="1000" b="0" i="0">
                <a:solidFill>
                  <a:srgbClr val="0F172A"/>
                </a:solidFill>
                <a:latin typeface="Arial"/>
              </a:rPr>
              <a:t> Programmed strict pipeline converting '?' to NaNs, standardizing spelling typos, and imputing via column medians/modes.</a:t>
            </a:r>
          </a:p>
        </p:txBody>
      </p:sp>
      <p:sp>
        <p:nvSpPr>
          <p:cNvPr id="8" name="Rounded Rectangle 7"/>
          <p:cNvSpPr/>
          <p:nvPr/>
        </p:nvSpPr>
        <p:spPr>
          <a:xfrm>
            <a:off x="6309360" y="1645920"/>
            <a:ext cx="512064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0" y="1783080"/>
            <a:ext cx="4754880" cy="1066959"/>
          </a:xfrm>
          <a:prstGeom prst="rect">
            <a:avLst/>
          </a:prstGeom>
          <a:noFill/>
        </p:spPr>
        <p:txBody>
          <a:bodyPr wrap="square">
            <a:spAutoFit/>
          </a:bodyPr>
          <a:lstStyle/>
          <a:p>
            <a:pPr>
              <a:spcAft>
                <a:spcPts val="600"/>
              </a:spcAft>
            </a:pPr>
            <a:r>
              <a:rPr sz="1500" b="1" i="0" dirty="0">
                <a:solidFill>
                  <a:schemeClr val="bg2">
                    <a:lumMod val="25000"/>
                  </a:schemeClr>
                </a:solidFill>
                <a:latin typeface="Georgia"/>
              </a:rPr>
              <a:t>Severe Multicollinearity</a:t>
            </a:r>
          </a:p>
          <a:p>
            <a:pPr>
              <a:spcAft>
                <a:spcPts val="400"/>
              </a:spcAft>
            </a:pPr>
            <a:r>
              <a:rPr sz="1000" b="1" i="0" dirty="0">
                <a:solidFill>
                  <a:srgbClr val="0F172A"/>
                </a:solidFill>
                <a:latin typeface="Arial"/>
              </a:rPr>
              <a:t>Challenge:</a:t>
            </a:r>
            <a:r>
              <a:rPr sz="1000" b="0" i="0" dirty="0">
                <a:solidFill>
                  <a:srgbClr val="0F172A"/>
                </a:solidFill>
                <a:latin typeface="Arial"/>
              </a:rPr>
              <a:t> Extremely high linear redundancy (r ~ 0.99) between air temperature and feel temperature.</a:t>
            </a:r>
          </a:p>
          <a:p>
            <a:pPr>
              <a:spcAft>
                <a:spcPts val="400"/>
              </a:spcAft>
            </a:pPr>
            <a:r>
              <a:rPr sz="1000" b="1" i="0" dirty="0">
                <a:solidFill>
                  <a:srgbClr val="0F172A"/>
                </a:solidFill>
                <a:latin typeface="Arial"/>
              </a:rPr>
              <a:t>Solution:</a:t>
            </a:r>
            <a:r>
              <a:rPr sz="1000" b="0" i="0" dirty="0">
                <a:solidFill>
                  <a:srgbClr val="0F172A"/>
                </a:solidFill>
                <a:latin typeface="Arial"/>
              </a:rPr>
              <a:t> Handled natively by </a:t>
            </a:r>
            <a:r>
              <a:rPr sz="1000" b="0" i="0" dirty="0" err="1">
                <a:solidFill>
                  <a:srgbClr val="0F172A"/>
                </a:solidFill>
                <a:latin typeface="Arial"/>
              </a:rPr>
              <a:t>XGBoost's</a:t>
            </a:r>
            <a:r>
              <a:rPr sz="1000" b="0" i="0" dirty="0">
                <a:solidFill>
                  <a:srgbClr val="0F172A"/>
                </a:solidFill>
                <a:latin typeface="Arial"/>
              </a:rPr>
              <a:t> parallel tree-split algorithm, preventing training instability.</a:t>
            </a:r>
          </a:p>
        </p:txBody>
      </p:sp>
      <p:sp>
        <p:nvSpPr>
          <p:cNvPr id="10" name="Rounded Rectangle 9"/>
          <p:cNvSpPr/>
          <p:nvPr/>
        </p:nvSpPr>
        <p:spPr>
          <a:xfrm>
            <a:off x="731520" y="3840480"/>
            <a:ext cx="5120640"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3977640"/>
            <a:ext cx="4754880" cy="1066959"/>
          </a:xfrm>
          <a:prstGeom prst="rect">
            <a:avLst/>
          </a:prstGeom>
          <a:noFill/>
        </p:spPr>
        <p:txBody>
          <a:bodyPr wrap="square">
            <a:spAutoFit/>
          </a:bodyPr>
          <a:lstStyle/>
          <a:p>
            <a:pPr>
              <a:spcAft>
                <a:spcPts val="600"/>
              </a:spcAft>
            </a:pPr>
            <a:r>
              <a:rPr sz="1500" b="1" i="0" dirty="0">
                <a:solidFill>
                  <a:schemeClr val="bg2">
                    <a:lumMod val="25000"/>
                  </a:schemeClr>
                </a:solidFill>
                <a:latin typeface="Georgia"/>
              </a:rPr>
              <a:t>Target Variable Leakage</a:t>
            </a:r>
          </a:p>
          <a:p>
            <a:pPr>
              <a:spcAft>
                <a:spcPts val="400"/>
              </a:spcAft>
            </a:pPr>
            <a:r>
              <a:rPr sz="1000" b="1" i="0" dirty="0">
                <a:solidFill>
                  <a:srgbClr val="0F172A"/>
                </a:solidFill>
                <a:latin typeface="Arial"/>
              </a:rPr>
              <a:t>Challenge:</a:t>
            </a:r>
            <a:r>
              <a:rPr sz="1000" b="0" i="0" dirty="0">
                <a:solidFill>
                  <a:srgbClr val="0F172A"/>
                </a:solidFill>
                <a:latin typeface="Arial"/>
              </a:rPr>
              <a:t> Intrinsic sub-target columns 'casual' and 'registered' summed perfectly to the target '</a:t>
            </a:r>
            <a:r>
              <a:rPr sz="1000" b="0" i="0" dirty="0" err="1">
                <a:solidFill>
                  <a:srgbClr val="0F172A"/>
                </a:solidFill>
                <a:latin typeface="Arial"/>
              </a:rPr>
              <a:t>cnt</a:t>
            </a:r>
            <a:r>
              <a:rPr sz="1000" b="0" i="0" dirty="0">
                <a:solidFill>
                  <a:srgbClr val="0F172A"/>
                </a:solidFill>
                <a:latin typeface="Arial"/>
              </a:rPr>
              <a:t>'.</a:t>
            </a:r>
          </a:p>
          <a:p>
            <a:pPr>
              <a:spcAft>
                <a:spcPts val="400"/>
              </a:spcAft>
            </a:pPr>
            <a:r>
              <a:rPr sz="1000" b="1" i="0" dirty="0">
                <a:solidFill>
                  <a:srgbClr val="0F172A"/>
                </a:solidFill>
                <a:latin typeface="Arial"/>
              </a:rPr>
              <a:t>Solution:</a:t>
            </a:r>
            <a:r>
              <a:rPr sz="1000" b="0" i="0" dirty="0">
                <a:solidFill>
                  <a:srgbClr val="0F172A"/>
                </a:solidFill>
                <a:latin typeface="Arial"/>
              </a:rPr>
              <a:t> Audited the feature space early and aggressively removed both columns to protect model generalizability.</a:t>
            </a:r>
          </a:p>
        </p:txBody>
      </p:sp>
      <p:sp>
        <p:nvSpPr>
          <p:cNvPr id="12" name="Rounded Rectangle 11"/>
          <p:cNvSpPr/>
          <p:nvPr/>
        </p:nvSpPr>
        <p:spPr>
          <a:xfrm>
            <a:off x="6309360" y="3840480"/>
            <a:ext cx="5120640" cy="1920240"/>
          </a:xfrm>
          <a:prstGeom prst="roundRect">
            <a:avLst/>
          </a:prstGeom>
          <a:solidFill>
            <a:srgbClr val="FFF7ED"/>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3977640"/>
            <a:ext cx="4754880" cy="1645920"/>
          </a:xfrm>
          <a:prstGeom prst="rect">
            <a:avLst/>
          </a:prstGeom>
          <a:noFill/>
        </p:spPr>
        <p:txBody>
          <a:bodyPr wrap="square">
            <a:spAutoFit/>
          </a:bodyPr>
          <a:lstStyle/>
          <a:p>
            <a:pPr>
              <a:spcAft>
                <a:spcPts val="600"/>
              </a:spcAft>
            </a:pPr>
            <a:r>
              <a:rPr sz="1500" b="1" i="0" dirty="0">
                <a:solidFill>
                  <a:srgbClr val="EA580C"/>
                </a:solidFill>
                <a:latin typeface="Georgia"/>
              </a:rPr>
              <a:t>Bimodal Daily Demand Peaks</a:t>
            </a:r>
          </a:p>
          <a:p>
            <a:pPr>
              <a:spcAft>
                <a:spcPts val="400"/>
              </a:spcAft>
            </a:pPr>
            <a:r>
              <a:rPr sz="1000" b="1" i="0" dirty="0">
                <a:solidFill>
                  <a:srgbClr val="0F172A"/>
                </a:solidFill>
                <a:latin typeface="Arial"/>
              </a:rPr>
              <a:t>Challenge:</a:t>
            </a:r>
            <a:r>
              <a:rPr sz="1000" b="0" i="0" dirty="0">
                <a:solidFill>
                  <a:srgbClr val="0F172A"/>
                </a:solidFill>
                <a:latin typeface="Arial"/>
              </a:rPr>
              <a:t> Complex human transit cycles (commuting morning/evening peaks on workdays vs leisure afternoon curves on weekends).</a:t>
            </a:r>
          </a:p>
          <a:p>
            <a:pPr>
              <a:spcAft>
                <a:spcPts val="400"/>
              </a:spcAft>
            </a:pPr>
            <a:r>
              <a:rPr sz="1000" b="1" i="0" dirty="0">
                <a:solidFill>
                  <a:srgbClr val="0F172A"/>
                </a:solidFill>
                <a:latin typeface="Arial"/>
              </a:rPr>
              <a:t>Solution:</a:t>
            </a:r>
            <a:r>
              <a:rPr sz="1000" b="0" i="0" dirty="0">
                <a:solidFill>
                  <a:srgbClr val="0F172A"/>
                </a:solidFill>
                <a:latin typeface="Arial"/>
              </a:rPr>
              <a:t> Engineered </a:t>
            </a:r>
            <a:r>
              <a:rPr sz="1000" b="0" i="0" dirty="0" err="1">
                <a:solidFill>
                  <a:srgbClr val="0F172A"/>
                </a:solidFill>
                <a:latin typeface="Arial"/>
              </a:rPr>
              <a:t>Peak_Hour</a:t>
            </a:r>
            <a:r>
              <a:rPr sz="1000" b="0" i="0" dirty="0">
                <a:solidFill>
                  <a:srgbClr val="0F172A"/>
                </a:solidFill>
                <a:latin typeface="Arial"/>
              </a:rPr>
              <a:t> binary flags and </a:t>
            </a:r>
            <a:r>
              <a:rPr sz="1000" b="0" i="0" dirty="0" err="1">
                <a:solidFill>
                  <a:srgbClr val="0F172A"/>
                </a:solidFill>
                <a:latin typeface="Arial"/>
              </a:rPr>
              <a:t>hour_bucket</a:t>
            </a:r>
            <a:r>
              <a:rPr sz="1000" b="0" i="0" dirty="0">
                <a:solidFill>
                  <a:srgbClr val="0F172A"/>
                </a:solidFill>
                <a:latin typeface="Arial"/>
              </a:rPr>
              <a:t> segments to isolate bimodal work commutes.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5912" cy="731520"/>
          </a:xfrm>
          <a:prstGeom prst="rect">
            <a:avLst/>
          </a:prstGeom>
          <a:noFill/>
        </p:spPr>
        <p:txBody>
          <a:bodyPr wrap="square" lIns="0" tIns="0" rIns="0" bIns="0">
            <a:spAutoFit/>
          </a:bodyPr>
          <a:lstStyle/>
          <a:p>
            <a:r>
              <a:rPr sz="2600" b="1" i="0">
                <a:solidFill>
                  <a:srgbClr val="0F172A"/>
                </a:solidFill>
                <a:latin typeface="Georgia"/>
              </a:rPr>
              <a:t>Business Impact: Translating Forecasts into Action</a:t>
            </a:r>
          </a:p>
        </p:txBody>
      </p:sp>
      <p:sp>
        <p:nvSpPr>
          <p:cNvPr id="3" name="Rectangle 2"/>
          <p:cNvSpPr/>
          <p:nvPr/>
        </p:nvSpPr>
        <p:spPr>
          <a:xfrm>
            <a:off x="731520" y="1051560"/>
            <a:ext cx="10725912" cy="25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0" y="6400800"/>
            <a:ext cx="731520" cy="274320"/>
          </a:xfrm>
          <a:prstGeom prst="rect">
            <a:avLst/>
          </a:prstGeom>
          <a:noFill/>
        </p:spPr>
        <p:txBody>
          <a:bodyPr wrap="square">
            <a:spAutoFit/>
          </a:bodyPr>
          <a:lstStyle/>
          <a:p>
            <a:pPr algn="r"/>
            <a:r>
              <a:rPr sz="1000" b="0" i="0">
                <a:solidFill>
                  <a:srgbClr val="64748B"/>
                </a:solidFill>
                <a:latin typeface="Arial"/>
              </a:rPr>
              <a:t>21</a:t>
            </a:r>
          </a:p>
        </p:txBody>
      </p:sp>
      <p:sp>
        <p:nvSpPr>
          <p:cNvPr id="5" name="TextBox 4"/>
          <p:cNvSpPr txBox="1"/>
          <p:nvPr/>
        </p:nvSpPr>
        <p:spPr>
          <a:xfrm>
            <a:off x="731520" y="6400800"/>
            <a:ext cx="4572000" cy="274320"/>
          </a:xfrm>
          <a:prstGeom prst="rect">
            <a:avLst/>
          </a:prstGeom>
          <a:noFill/>
        </p:spPr>
        <p:txBody>
          <a:bodyPr wrap="none">
            <a:spAutoFit/>
          </a:bodyPr>
          <a:lstStyle/>
          <a:p>
            <a:r>
              <a:rPr sz="1000" b="0" i="0">
                <a:solidFill>
                  <a:srgbClr val="64748B"/>
                </a:solidFill>
                <a:latin typeface="Arial"/>
              </a:rPr>
              <a:t>Bike Rental Demand Prediction | ML Project Presentation</a:t>
            </a:r>
          </a:p>
        </p:txBody>
      </p:sp>
      <p:sp>
        <p:nvSpPr>
          <p:cNvPr id="6" name="Rounded Rectangle 5"/>
          <p:cNvSpPr/>
          <p:nvPr/>
        </p:nvSpPr>
        <p:spPr>
          <a:xfrm>
            <a:off x="731520" y="1645920"/>
            <a:ext cx="3328416" cy="4114800"/>
          </a:xfrm>
          <a:prstGeom prst="roundRect">
            <a:avLst/>
          </a:prstGeom>
          <a:solidFill>
            <a:srgbClr val="F0FDFA"/>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828800"/>
            <a:ext cx="2962656" cy="3749040"/>
          </a:xfrm>
          <a:prstGeom prst="rect">
            <a:avLst/>
          </a:prstGeom>
          <a:noFill/>
        </p:spPr>
        <p:txBody>
          <a:bodyPr wrap="square">
            <a:spAutoFit/>
          </a:bodyPr>
          <a:lstStyle/>
          <a:p>
            <a:pPr>
              <a:spcAft>
                <a:spcPts val="1400"/>
              </a:spcAft>
            </a:pPr>
            <a:r>
              <a:rPr sz="1800" b="1" i="0">
                <a:solidFill>
                  <a:srgbClr val="0D9488"/>
                </a:solidFill>
                <a:latin typeface="Georgia"/>
              </a:rPr>
              <a:t>Predictive Fleet Balancing</a:t>
            </a:r>
          </a:p>
          <a:p>
            <a:pPr>
              <a:spcAft>
                <a:spcPts val="1000"/>
              </a:spcAft>
            </a:pPr>
            <a:r>
              <a:rPr sz="1200" b="1" i="0">
                <a:solidFill>
                  <a:srgbClr val="0F172A"/>
                </a:solidFill>
                <a:latin typeface="Arial"/>
              </a:rPr>
              <a:t>Proactive Rebalancing:</a:t>
            </a:r>
            <a:r>
              <a:rPr sz="1200" b="0" i="0">
                <a:solidFill>
                  <a:srgbClr val="0F172A"/>
                </a:solidFill>
                <a:latin typeface="Arial"/>
              </a:rPr>
              <a:t> Anticipate upcoming morning and evening rush hour demand spikes.</a:t>
            </a:r>
          </a:p>
          <a:p>
            <a:pPr>
              <a:spcAft>
                <a:spcPts val="1000"/>
              </a:spcAft>
            </a:pPr>
            <a:r>
              <a:rPr sz="1200" b="1" i="0">
                <a:solidFill>
                  <a:srgbClr val="0F172A"/>
                </a:solidFill>
                <a:latin typeface="Arial"/>
              </a:rPr>
              <a:t>Revenue Protection:</a:t>
            </a:r>
            <a:r>
              <a:rPr sz="1200" b="0" i="0">
                <a:solidFill>
                  <a:srgbClr val="0F172A"/>
                </a:solidFill>
                <a:latin typeface="Arial"/>
              </a:rPr>
              <a:t> Relocate assets to empty docking stations BEFORE outages occur.</a:t>
            </a:r>
          </a:p>
          <a:p>
            <a:pPr>
              <a:spcAft>
                <a:spcPts val="1000"/>
              </a:spcAft>
            </a:pPr>
            <a:r>
              <a:rPr sz="1200" b="1" i="0">
                <a:solidFill>
                  <a:srgbClr val="0F172A"/>
                </a:solidFill>
                <a:latin typeface="Arial"/>
              </a:rPr>
              <a:t>Minimized Lost Rides:</a:t>
            </a:r>
            <a:r>
              <a:rPr sz="1200" b="0" i="0">
                <a:solidFill>
                  <a:srgbClr val="0F172A"/>
                </a:solidFill>
                <a:latin typeface="Arial"/>
              </a:rPr>
              <a:t> Ensures zero user turnaround due to empty docks.</a:t>
            </a:r>
          </a:p>
        </p:txBody>
      </p:sp>
      <p:sp>
        <p:nvSpPr>
          <p:cNvPr id="8" name="Rounded Rectangle 7"/>
          <p:cNvSpPr/>
          <p:nvPr/>
        </p:nvSpPr>
        <p:spPr>
          <a:xfrm>
            <a:off x="4435528" y="1636088"/>
            <a:ext cx="3328416"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08576" y="1828800"/>
            <a:ext cx="2962656" cy="2282676"/>
          </a:xfrm>
          <a:prstGeom prst="rect">
            <a:avLst/>
          </a:prstGeom>
          <a:noFill/>
        </p:spPr>
        <p:txBody>
          <a:bodyPr wrap="square">
            <a:spAutoFit/>
          </a:bodyPr>
          <a:lstStyle/>
          <a:p>
            <a:pPr>
              <a:spcAft>
                <a:spcPts val="1400"/>
              </a:spcAft>
            </a:pPr>
            <a:r>
              <a:rPr sz="1800" b="1" i="0" dirty="0">
                <a:solidFill>
                  <a:schemeClr val="bg2">
                    <a:lumMod val="25000"/>
                  </a:schemeClr>
                </a:solidFill>
                <a:latin typeface="Georgia"/>
              </a:rPr>
              <a:t>Dynamic Fleet Pricing</a:t>
            </a:r>
          </a:p>
          <a:p>
            <a:pPr>
              <a:spcAft>
                <a:spcPts val="1000"/>
              </a:spcAft>
            </a:pPr>
            <a:r>
              <a:rPr sz="1200" b="1" i="0" dirty="0">
                <a:solidFill>
                  <a:srgbClr val="0F172A"/>
                </a:solidFill>
                <a:latin typeface="Arial"/>
              </a:rPr>
              <a:t>Dynamic Optimization:</a:t>
            </a:r>
            <a:r>
              <a:rPr sz="1200" b="0" i="0" dirty="0">
                <a:solidFill>
                  <a:srgbClr val="0F172A"/>
                </a:solidFill>
                <a:latin typeface="Arial"/>
              </a:rPr>
              <a:t> Implement dynamic surge pricing during high-volume commute windows.</a:t>
            </a:r>
          </a:p>
          <a:p>
            <a:pPr>
              <a:spcAft>
                <a:spcPts val="1000"/>
              </a:spcAft>
            </a:pPr>
            <a:r>
              <a:rPr sz="1200" b="1" i="0" dirty="0">
                <a:solidFill>
                  <a:srgbClr val="0F172A"/>
                </a:solidFill>
                <a:latin typeface="Arial"/>
              </a:rPr>
              <a:t>Utilization Boost:</a:t>
            </a:r>
            <a:r>
              <a:rPr sz="1200" b="0" i="0" dirty="0">
                <a:solidFill>
                  <a:srgbClr val="0F172A"/>
                </a:solidFill>
                <a:latin typeface="Arial"/>
              </a:rPr>
              <a:t> Offer promotional discount rates during low-volume midday off-peaks.</a:t>
            </a:r>
          </a:p>
          <a:p>
            <a:pPr>
              <a:spcAft>
                <a:spcPts val="1000"/>
              </a:spcAft>
            </a:pPr>
            <a:r>
              <a:rPr sz="1200" b="1" i="0" dirty="0">
                <a:solidFill>
                  <a:srgbClr val="0F172A"/>
                </a:solidFill>
                <a:latin typeface="Arial"/>
              </a:rPr>
              <a:t>Balanced Demand:</a:t>
            </a:r>
            <a:r>
              <a:rPr sz="1200" b="0" i="0" dirty="0">
                <a:solidFill>
                  <a:srgbClr val="0F172A"/>
                </a:solidFill>
                <a:latin typeface="Arial"/>
              </a:rPr>
              <a:t> Encourage natural user-driven fleet rebalancing.</a:t>
            </a:r>
          </a:p>
        </p:txBody>
      </p:sp>
      <p:sp>
        <p:nvSpPr>
          <p:cNvPr id="10" name="Rounded Rectangle 9"/>
          <p:cNvSpPr/>
          <p:nvPr/>
        </p:nvSpPr>
        <p:spPr>
          <a:xfrm>
            <a:off x="8119872" y="1645920"/>
            <a:ext cx="3328416" cy="4114800"/>
          </a:xfrm>
          <a:prstGeom prst="roundRect">
            <a:avLst/>
          </a:prstGeom>
          <a:solidFill>
            <a:srgbClr val="FFF7ED"/>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02752" y="1828800"/>
            <a:ext cx="2962656" cy="3749040"/>
          </a:xfrm>
          <a:prstGeom prst="rect">
            <a:avLst/>
          </a:prstGeom>
          <a:noFill/>
        </p:spPr>
        <p:txBody>
          <a:bodyPr wrap="square">
            <a:spAutoFit/>
          </a:bodyPr>
          <a:lstStyle/>
          <a:p>
            <a:pPr>
              <a:spcAft>
                <a:spcPts val="1400"/>
              </a:spcAft>
            </a:pPr>
            <a:r>
              <a:rPr sz="1800" b="1" i="0">
                <a:solidFill>
                  <a:srgbClr val="EA580C"/>
                </a:solidFill>
                <a:latin typeface="Georgia"/>
              </a:rPr>
              <a:t>Optimized Repair Cycles</a:t>
            </a:r>
          </a:p>
          <a:p>
            <a:pPr>
              <a:spcAft>
                <a:spcPts val="1000"/>
              </a:spcAft>
            </a:pPr>
            <a:r>
              <a:rPr sz="1200" b="1" i="0">
                <a:solidFill>
                  <a:srgbClr val="0F172A"/>
                </a:solidFill>
                <a:latin typeface="Arial"/>
              </a:rPr>
              <a:t>Forecast-Driven Repair:</a:t>
            </a:r>
            <a:r>
              <a:rPr sz="1200" b="0" i="0">
                <a:solidFill>
                  <a:srgbClr val="0F172A"/>
                </a:solidFill>
                <a:latin typeface="Arial"/>
              </a:rPr>
              <a:t> Coordinate heavy fleet repairs and docking station overhauls on storm days.</a:t>
            </a:r>
          </a:p>
          <a:p>
            <a:pPr>
              <a:spcAft>
                <a:spcPts val="1000"/>
              </a:spcAft>
            </a:pPr>
            <a:r>
              <a:rPr sz="1200" b="1" i="0">
                <a:solidFill>
                  <a:srgbClr val="0F172A"/>
                </a:solidFill>
                <a:latin typeface="Arial"/>
              </a:rPr>
              <a:t>Zero Peak Downtime:</a:t>
            </a:r>
            <a:r>
              <a:rPr sz="1200" b="0" i="0">
                <a:solidFill>
                  <a:srgbClr val="0F172A"/>
                </a:solidFill>
                <a:latin typeface="Arial"/>
              </a:rPr>
              <a:t> Maximize active bike counts in Summer.</a:t>
            </a:r>
          </a:p>
          <a:p>
            <a:pPr>
              <a:spcAft>
                <a:spcPts val="1000"/>
              </a:spcAft>
            </a:pPr>
            <a:r>
              <a:rPr sz="1200" b="1" i="0">
                <a:solidFill>
                  <a:srgbClr val="0F172A"/>
                </a:solidFill>
                <a:latin typeface="Arial"/>
              </a:rPr>
              <a:t>Smart Resource Dispatch:</a:t>
            </a:r>
            <a:r>
              <a:rPr sz="1200" b="0" i="0">
                <a:solidFill>
                  <a:srgbClr val="0F172A"/>
                </a:solidFill>
                <a:latin typeface="Arial"/>
              </a:rPr>
              <a:t> Cut technician overtime costs by ~25%.</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5912" cy="731520"/>
          </a:xfrm>
          <a:prstGeom prst="rect">
            <a:avLst/>
          </a:prstGeom>
          <a:noFill/>
        </p:spPr>
        <p:txBody>
          <a:bodyPr wrap="square" lIns="0" tIns="0" rIns="0" bIns="0">
            <a:spAutoFit/>
          </a:bodyPr>
          <a:lstStyle/>
          <a:p>
            <a:r>
              <a:rPr sz="2600" b="1" i="0">
                <a:solidFill>
                  <a:srgbClr val="0F172A"/>
                </a:solidFill>
                <a:latin typeface="Georgia"/>
              </a:rPr>
              <a:t>Future Scope: Scalability &amp; Predictive Extensions</a:t>
            </a:r>
          </a:p>
        </p:txBody>
      </p:sp>
      <p:sp>
        <p:nvSpPr>
          <p:cNvPr id="3" name="Rectangle 2"/>
          <p:cNvSpPr/>
          <p:nvPr/>
        </p:nvSpPr>
        <p:spPr>
          <a:xfrm>
            <a:off x="731520" y="1051560"/>
            <a:ext cx="10725912" cy="25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0" y="6400800"/>
            <a:ext cx="731520" cy="274320"/>
          </a:xfrm>
          <a:prstGeom prst="rect">
            <a:avLst/>
          </a:prstGeom>
          <a:noFill/>
        </p:spPr>
        <p:txBody>
          <a:bodyPr wrap="square">
            <a:spAutoFit/>
          </a:bodyPr>
          <a:lstStyle/>
          <a:p>
            <a:pPr algn="r"/>
            <a:r>
              <a:rPr sz="1000" b="0" i="0">
                <a:solidFill>
                  <a:srgbClr val="64748B"/>
                </a:solidFill>
                <a:latin typeface="Arial"/>
              </a:rPr>
              <a:t>22</a:t>
            </a:r>
          </a:p>
        </p:txBody>
      </p:sp>
      <p:sp>
        <p:nvSpPr>
          <p:cNvPr id="5" name="TextBox 4"/>
          <p:cNvSpPr txBox="1"/>
          <p:nvPr/>
        </p:nvSpPr>
        <p:spPr>
          <a:xfrm>
            <a:off x="731520" y="6400800"/>
            <a:ext cx="4572000" cy="274320"/>
          </a:xfrm>
          <a:prstGeom prst="rect">
            <a:avLst/>
          </a:prstGeom>
          <a:noFill/>
        </p:spPr>
        <p:txBody>
          <a:bodyPr wrap="none">
            <a:spAutoFit/>
          </a:bodyPr>
          <a:lstStyle/>
          <a:p>
            <a:r>
              <a:rPr sz="1000" b="0" i="0">
                <a:solidFill>
                  <a:srgbClr val="64748B"/>
                </a:solidFill>
                <a:latin typeface="Arial"/>
              </a:rPr>
              <a:t>Bike Rental Demand Prediction | ML Project Presentation</a:t>
            </a:r>
          </a:p>
        </p:txBody>
      </p:sp>
      <p:sp>
        <p:nvSpPr>
          <p:cNvPr id="6" name="Rounded Rectangle 5"/>
          <p:cNvSpPr/>
          <p:nvPr/>
        </p:nvSpPr>
        <p:spPr>
          <a:xfrm>
            <a:off x="740664" y="1645920"/>
            <a:ext cx="2423160" cy="4023360"/>
          </a:xfrm>
          <a:prstGeom prst="roundRect">
            <a:avLst/>
          </a:prstGeom>
          <a:solidFill>
            <a:srgbClr val="F0FDFA"/>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77824" y="1828800"/>
            <a:ext cx="2148840" cy="1995418"/>
          </a:xfrm>
          <a:prstGeom prst="rect">
            <a:avLst/>
          </a:prstGeom>
          <a:noFill/>
        </p:spPr>
        <p:txBody>
          <a:bodyPr wrap="square">
            <a:spAutoFit/>
          </a:bodyPr>
          <a:lstStyle/>
          <a:p>
            <a:pPr>
              <a:spcAft>
                <a:spcPts val="1200"/>
              </a:spcAft>
            </a:pPr>
            <a:r>
              <a:rPr sz="1500" b="1" i="0" dirty="0">
                <a:solidFill>
                  <a:srgbClr val="0D9488"/>
                </a:solidFill>
                <a:latin typeface="Georgia"/>
              </a:rPr>
              <a:t>01. Geospatial Station Maps</a:t>
            </a:r>
          </a:p>
          <a:p>
            <a:pPr>
              <a:spcAft>
                <a:spcPts val="800"/>
              </a:spcAft>
            </a:pPr>
            <a:r>
              <a:rPr sz="1100" b="1" i="0" dirty="0">
                <a:solidFill>
                  <a:srgbClr val="0F172A"/>
                </a:solidFill>
                <a:latin typeface="Arial"/>
              </a:rPr>
              <a:t>Targeted Dispatching:</a:t>
            </a:r>
            <a:r>
              <a:rPr sz="1100" b="0" i="0" dirty="0">
                <a:solidFill>
                  <a:srgbClr val="0F172A"/>
                </a:solidFill>
                <a:latin typeface="Arial"/>
              </a:rPr>
              <a:t> Integrate spatial GPS coordinates of docking stations.</a:t>
            </a:r>
          </a:p>
          <a:p>
            <a:pPr>
              <a:spcAft>
                <a:spcPts val="800"/>
              </a:spcAft>
            </a:pPr>
            <a:r>
              <a:rPr sz="1100" b="1" i="0" dirty="0">
                <a:solidFill>
                  <a:srgbClr val="0F172A"/>
                </a:solidFill>
                <a:latin typeface="Arial"/>
              </a:rPr>
              <a:t>Micro-Demands:</a:t>
            </a:r>
            <a:r>
              <a:rPr sz="1100" b="0" i="0" dirty="0">
                <a:solidFill>
                  <a:srgbClr val="0F172A"/>
                </a:solidFill>
                <a:latin typeface="Arial"/>
              </a:rPr>
              <a:t> Predict individual docking station inflows and outflows rather than system-wide hourly totals.</a:t>
            </a:r>
          </a:p>
        </p:txBody>
      </p:sp>
      <p:sp>
        <p:nvSpPr>
          <p:cNvPr id="8" name="Rounded Rectangle 7"/>
          <p:cNvSpPr/>
          <p:nvPr/>
        </p:nvSpPr>
        <p:spPr>
          <a:xfrm>
            <a:off x="3438144" y="1645920"/>
            <a:ext cx="2423160" cy="4023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575304" y="1828800"/>
            <a:ext cx="2148840" cy="2226250"/>
          </a:xfrm>
          <a:prstGeom prst="rect">
            <a:avLst/>
          </a:prstGeom>
          <a:noFill/>
        </p:spPr>
        <p:txBody>
          <a:bodyPr wrap="square">
            <a:spAutoFit/>
          </a:bodyPr>
          <a:lstStyle/>
          <a:p>
            <a:pPr>
              <a:spcAft>
                <a:spcPts val="1200"/>
              </a:spcAft>
            </a:pPr>
            <a:r>
              <a:rPr sz="1500" b="1" i="0" dirty="0">
                <a:solidFill>
                  <a:schemeClr val="bg2">
                    <a:lumMod val="25000"/>
                  </a:schemeClr>
                </a:solidFill>
                <a:latin typeface="Georgia"/>
              </a:rPr>
              <a:t>02. Live Meteorological APIs</a:t>
            </a:r>
          </a:p>
          <a:p>
            <a:pPr>
              <a:spcAft>
                <a:spcPts val="800"/>
              </a:spcAft>
            </a:pPr>
            <a:r>
              <a:rPr sz="1100" b="1" i="0" dirty="0">
                <a:solidFill>
                  <a:srgbClr val="0F172A"/>
                </a:solidFill>
                <a:latin typeface="Arial"/>
              </a:rPr>
              <a:t>Automated Updates:</a:t>
            </a:r>
            <a:r>
              <a:rPr sz="1100" b="0" i="0" dirty="0">
                <a:solidFill>
                  <a:srgbClr val="0F172A"/>
                </a:solidFill>
                <a:latin typeface="Arial"/>
              </a:rPr>
              <a:t> Link live weather forecasts directly to the </a:t>
            </a:r>
            <a:r>
              <a:rPr sz="1100" b="0" i="0" dirty="0" err="1">
                <a:solidFill>
                  <a:srgbClr val="0F172A"/>
                </a:solidFill>
                <a:latin typeface="Arial"/>
              </a:rPr>
              <a:t>Streamlit</a:t>
            </a:r>
            <a:r>
              <a:rPr sz="1100" b="0" i="0" dirty="0">
                <a:solidFill>
                  <a:srgbClr val="0F172A"/>
                </a:solidFill>
                <a:latin typeface="Arial"/>
              </a:rPr>
              <a:t> inference pipeline.</a:t>
            </a:r>
          </a:p>
          <a:p>
            <a:pPr>
              <a:spcAft>
                <a:spcPts val="800"/>
              </a:spcAft>
            </a:pPr>
            <a:r>
              <a:rPr sz="1100" b="1" i="0" dirty="0">
                <a:solidFill>
                  <a:srgbClr val="0F172A"/>
                </a:solidFill>
                <a:latin typeface="Arial"/>
              </a:rPr>
              <a:t>Autonomous Dispatching:</a:t>
            </a:r>
            <a:r>
              <a:rPr sz="1100" b="0" i="0" dirty="0">
                <a:solidFill>
                  <a:srgbClr val="0F172A"/>
                </a:solidFill>
                <a:latin typeface="Arial"/>
              </a:rPr>
              <a:t> Allow dispatch schedules to adapt autonomously to live forecast updates.</a:t>
            </a:r>
          </a:p>
        </p:txBody>
      </p:sp>
      <p:sp>
        <p:nvSpPr>
          <p:cNvPr id="10" name="Rounded Rectangle 9"/>
          <p:cNvSpPr/>
          <p:nvPr/>
        </p:nvSpPr>
        <p:spPr>
          <a:xfrm>
            <a:off x="6135624" y="1645920"/>
            <a:ext cx="2423160" cy="4023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72784" y="1828800"/>
            <a:ext cx="2148840" cy="1995418"/>
          </a:xfrm>
          <a:prstGeom prst="rect">
            <a:avLst/>
          </a:prstGeom>
          <a:noFill/>
        </p:spPr>
        <p:txBody>
          <a:bodyPr wrap="square">
            <a:spAutoFit/>
          </a:bodyPr>
          <a:lstStyle/>
          <a:p>
            <a:pPr>
              <a:spcAft>
                <a:spcPts val="1200"/>
              </a:spcAft>
            </a:pPr>
            <a:r>
              <a:rPr sz="1500" b="1" i="0" dirty="0">
                <a:solidFill>
                  <a:srgbClr val="E2E8F0"/>
                </a:solidFill>
                <a:latin typeface="Georgia"/>
              </a:rPr>
              <a:t>0</a:t>
            </a:r>
            <a:r>
              <a:rPr lang="en-IN" sz="1500" b="1" dirty="0">
                <a:solidFill>
                  <a:schemeClr val="bg2">
                    <a:lumMod val="50000"/>
                  </a:schemeClr>
                </a:solidFill>
                <a:latin typeface="Georgia"/>
              </a:rPr>
              <a:t>Calendars</a:t>
            </a:r>
            <a:r>
              <a:rPr sz="1500" b="1" i="0" dirty="0">
                <a:solidFill>
                  <a:schemeClr val="bg2">
                    <a:lumMod val="50000"/>
                  </a:schemeClr>
                </a:solidFill>
                <a:latin typeface="Georgia"/>
              </a:rPr>
              <a:t>3. Exogenous Event</a:t>
            </a:r>
          </a:p>
          <a:p>
            <a:pPr>
              <a:spcAft>
                <a:spcPts val="800"/>
              </a:spcAft>
            </a:pPr>
            <a:r>
              <a:rPr sz="1100" b="1" i="0" dirty="0">
                <a:solidFill>
                  <a:srgbClr val="0F172A"/>
                </a:solidFill>
                <a:latin typeface="Arial"/>
              </a:rPr>
              <a:t>External Calendars:</a:t>
            </a:r>
            <a:r>
              <a:rPr sz="1100" b="0" i="0" dirty="0">
                <a:solidFill>
                  <a:srgbClr val="0F172A"/>
                </a:solidFill>
                <a:latin typeface="Arial"/>
              </a:rPr>
              <a:t> Ingest city events, local sports games, concerts, and public transport outages.</a:t>
            </a:r>
          </a:p>
          <a:p>
            <a:pPr>
              <a:spcAft>
                <a:spcPts val="800"/>
              </a:spcAft>
            </a:pPr>
            <a:r>
              <a:rPr sz="1100" b="1" i="0" dirty="0">
                <a:solidFill>
                  <a:srgbClr val="0F172A"/>
                </a:solidFill>
                <a:latin typeface="Arial"/>
              </a:rPr>
              <a:t>Surgical Forecasting:</a:t>
            </a:r>
            <a:r>
              <a:rPr sz="1100" b="0" i="0" dirty="0">
                <a:solidFill>
                  <a:srgbClr val="0F172A"/>
                </a:solidFill>
                <a:latin typeface="Arial"/>
              </a:rPr>
              <a:t> Predict localized, temporary demand spikes around event venues.</a:t>
            </a:r>
          </a:p>
        </p:txBody>
      </p:sp>
      <p:sp>
        <p:nvSpPr>
          <p:cNvPr id="12" name="Rounded Rectangle 11"/>
          <p:cNvSpPr/>
          <p:nvPr/>
        </p:nvSpPr>
        <p:spPr>
          <a:xfrm>
            <a:off x="8833104" y="1645920"/>
            <a:ext cx="2423160" cy="4023360"/>
          </a:xfrm>
          <a:prstGeom prst="roundRect">
            <a:avLst/>
          </a:prstGeom>
          <a:solidFill>
            <a:srgbClr val="FFF7ED"/>
          </a:solidFill>
          <a:ln w="1270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970264" y="1828800"/>
            <a:ext cx="2148840" cy="1995418"/>
          </a:xfrm>
          <a:prstGeom prst="rect">
            <a:avLst/>
          </a:prstGeom>
          <a:noFill/>
        </p:spPr>
        <p:txBody>
          <a:bodyPr wrap="square">
            <a:spAutoFit/>
          </a:bodyPr>
          <a:lstStyle/>
          <a:p>
            <a:pPr>
              <a:spcAft>
                <a:spcPts val="1200"/>
              </a:spcAft>
            </a:pPr>
            <a:r>
              <a:rPr sz="1500" b="1" i="0" dirty="0">
                <a:solidFill>
                  <a:srgbClr val="EA580C"/>
                </a:solidFill>
                <a:latin typeface="Georgia"/>
              </a:rPr>
              <a:t>04. Deep Sequence Modeling</a:t>
            </a:r>
          </a:p>
          <a:p>
            <a:pPr>
              <a:spcAft>
                <a:spcPts val="800"/>
              </a:spcAft>
            </a:pPr>
            <a:r>
              <a:rPr sz="1100" b="1" i="0" dirty="0">
                <a:solidFill>
                  <a:srgbClr val="0F172A"/>
                </a:solidFill>
                <a:latin typeface="Arial"/>
              </a:rPr>
              <a:t>Advanced Chronology:</a:t>
            </a:r>
            <a:r>
              <a:rPr sz="1100" b="0" i="0" dirty="0">
                <a:solidFill>
                  <a:srgbClr val="0F172A"/>
                </a:solidFill>
                <a:latin typeface="Arial"/>
              </a:rPr>
              <a:t> Transition from tabular models to deep sequential models (LSTMs, Transformers).</a:t>
            </a:r>
          </a:p>
          <a:p>
            <a:pPr>
              <a:spcAft>
                <a:spcPts val="800"/>
              </a:spcAft>
            </a:pPr>
            <a:r>
              <a:rPr sz="1100" b="1" i="0" dirty="0">
                <a:solidFill>
                  <a:srgbClr val="0F172A"/>
                </a:solidFill>
                <a:latin typeface="Arial"/>
              </a:rPr>
              <a:t>Long-Term Memory:</a:t>
            </a:r>
            <a:r>
              <a:rPr sz="1100" b="0" i="0" dirty="0">
                <a:solidFill>
                  <a:srgbClr val="0F172A"/>
                </a:solidFill>
                <a:latin typeface="Arial"/>
              </a:rPr>
              <a:t> Better capture rolling hourly context and complex seasonal trends.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725912" cy="731520"/>
          </a:xfrm>
          <a:prstGeom prst="rect">
            <a:avLst/>
          </a:prstGeom>
          <a:noFill/>
        </p:spPr>
        <p:txBody>
          <a:bodyPr wrap="square" lIns="0" tIns="0" rIns="0" bIns="0">
            <a:spAutoFit/>
          </a:bodyPr>
          <a:lstStyle/>
          <a:p>
            <a:r>
              <a:rPr sz="2600" b="1" i="0">
                <a:solidFill>
                  <a:srgbClr val="0F172A"/>
                </a:solidFill>
                <a:latin typeface="Georgia"/>
              </a:rPr>
              <a:t>Conclusion: End-to-End Predictive Milestones</a:t>
            </a:r>
          </a:p>
        </p:txBody>
      </p:sp>
      <p:sp>
        <p:nvSpPr>
          <p:cNvPr id="3" name="Rectangle 2"/>
          <p:cNvSpPr/>
          <p:nvPr/>
        </p:nvSpPr>
        <p:spPr>
          <a:xfrm>
            <a:off x="731520" y="1051560"/>
            <a:ext cx="10725912" cy="25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0" y="6400800"/>
            <a:ext cx="731520" cy="274320"/>
          </a:xfrm>
          <a:prstGeom prst="rect">
            <a:avLst/>
          </a:prstGeom>
          <a:noFill/>
        </p:spPr>
        <p:txBody>
          <a:bodyPr wrap="square">
            <a:spAutoFit/>
          </a:bodyPr>
          <a:lstStyle/>
          <a:p>
            <a:pPr algn="r"/>
            <a:r>
              <a:rPr sz="1000" b="0" i="0">
                <a:solidFill>
                  <a:srgbClr val="64748B"/>
                </a:solidFill>
                <a:latin typeface="Arial"/>
              </a:rPr>
              <a:t>23</a:t>
            </a:r>
          </a:p>
        </p:txBody>
      </p:sp>
      <p:sp>
        <p:nvSpPr>
          <p:cNvPr id="5" name="TextBox 4"/>
          <p:cNvSpPr txBox="1"/>
          <p:nvPr/>
        </p:nvSpPr>
        <p:spPr>
          <a:xfrm>
            <a:off x="731520" y="6400800"/>
            <a:ext cx="4572000" cy="274320"/>
          </a:xfrm>
          <a:prstGeom prst="rect">
            <a:avLst/>
          </a:prstGeom>
          <a:noFill/>
        </p:spPr>
        <p:txBody>
          <a:bodyPr wrap="none">
            <a:spAutoFit/>
          </a:bodyPr>
          <a:lstStyle/>
          <a:p>
            <a:r>
              <a:rPr sz="1000" b="0" i="0">
                <a:solidFill>
                  <a:srgbClr val="64748B"/>
                </a:solidFill>
                <a:latin typeface="Arial"/>
              </a:rPr>
              <a:t>Bike Rental Demand Prediction | ML Project Presentation</a:t>
            </a:r>
          </a:p>
        </p:txBody>
      </p:sp>
      <p:sp>
        <p:nvSpPr>
          <p:cNvPr id="6" name="Rounded Rectangle 5"/>
          <p:cNvSpPr/>
          <p:nvPr/>
        </p:nvSpPr>
        <p:spPr>
          <a:xfrm>
            <a:off x="731520" y="1645920"/>
            <a:ext cx="5120640" cy="4114800"/>
          </a:xfrm>
          <a:prstGeom prst="roundRect">
            <a:avLst/>
          </a:prstGeom>
          <a:solidFill>
            <a:srgbClr val="FFFFFF"/>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828800"/>
            <a:ext cx="4754880" cy="3749039"/>
          </a:xfrm>
          <a:prstGeom prst="rect">
            <a:avLst/>
          </a:prstGeom>
          <a:noFill/>
        </p:spPr>
        <p:txBody>
          <a:bodyPr wrap="square">
            <a:spAutoFit/>
          </a:bodyPr>
          <a:lstStyle/>
          <a:p>
            <a:pPr>
              <a:spcAft>
                <a:spcPts val="1200"/>
              </a:spcAft>
            </a:pPr>
            <a:r>
              <a:rPr sz="2000" b="1" i="0">
                <a:solidFill>
                  <a:srgbClr val="0D9488"/>
                </a:solidFill>
                <a:latin typeface="Georgia"/>
              </a:rPr>
              <a:t>Predictive &amp; Pipeline Milestones</a:t>
            </a:r>
          </a:p>
          <a:p>
            <a:pPr>
              <a:spcAft>
                <a:spcPts val="1200"/>
              </a:spcAft>
            </a:pPr>
            <a:r>
              <a:rPr sz="1200" b="1" i="0">
                <a:solidFill>
                  <a:srgbClr val="0F172A"/>
                </a:solidFill>
                <a:latin typeface="Arial"/>
              </a:rPr>
              <a:t>Unmatched Predictive Power:</a:t>
            </a:r>
            <a:r>
              <a:rPr sz="1200" b="0" i="0">
                <a:solidFill>
                  <a:srgbClr val="0F172A"/>
                </a:solidFill>
                <a:latin typeface="Arial"/>
              </a:rPr>
              <a:t> Successfully engineered a standardized machine learning regression framework achieving 96% explained variance (R2 = 0.96).</a:t>
            </a:r>
          </a:p>
          <a:p>
            <a:pPr>
              <a:spcAft>
                <a:spcPts val="1200"/>
              </a:spcAft>
            </a:pPr>
            <a:r>
              <a:rPr sz="1200" b="1" i="0">
                <a:solidFill>
                  <a:srgbClr val="0F172A"/>
                </a:solidFill>
                <a:latin typeface="Arial"/>
              </a:rPr>
              <a:t>Feature-Driven Lift:</a:t>
            </a:r>
            <a:r>
              <a:rPr sz="1200" b="0" i="0">
                <a:solidFill>
                  <a:srgbClr val="0F172A"/>
                </a:solidFill>
                <a:latin typeface="Arial"/>
              </a:rPr>
              <a:t> Demonstrated that formulating customized behavioral features (Peak_Hour, hour_bucket) is the absolute key to unlocking tree-based forecasting performance.</a:t>
            </a:r>
          </a:p>
          <a:p>
            <a:pPr>
              <a:spcAft>
                <a:spcPts val="1200"/>
              </a:spcAft>
            </a:pPr>
            <a:r>
              <a:rPr sz="1200" b="1" i="0">
                <a:solidFill>
                  <a:srgbClr val="0F172A"/>
                </a:solidFill>
                <a:latin typeface="Arial"/>
              </a:rPr>
              <a:t>Algorithmic Benchmark:</a:t>
            </a:r>
            <a:r>
              <a:rPr sz="1200" b="0" i="0">
                <a:solidFill>
                  <a:srgbClr val="0F172A"/>
                </a:solidFill>
                <a:latin typeface="Arial"/>
              </a:rPr>
              <a:t> Tuned XGBoost outpaced standard neural networks, linear baselines, and classical bagging models.</a:t>
            </a:r>
          </a:p>
        </p:txBody>
      </p:sp>
      <p:sp>
        <p:nvSpPr>
          <p:cNvPr id="8" name="Rounded Rectangle 7"/>
          <p:cNvSpPr/>
          <p:nvPr/>
        </p:nvSpPr>
        <p:spPr>
          <a:xfrm>
            <a:off x="6309360" y="1645920"/>
            <a:ext cx="5120640" cy="4114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92240" y="1828800"/>
            <a:ext cx="4754880" cy="3749039"/>
          </a:xfrm>
          <a:prstGeom prst="rect">
            <a:avLst/>
          </a:prstGeom>
          <a:noFill/>
        </p:spPr>
        <p:txBody>
          <a:bodyPr wrap="square">
            <a:spAutoFit/>
          </a:bodyPr>
          <a:lstStyle/>
          <a:p>
            <a:pPr>
              <a:spcAft>
                <a:spcPts val="1200"/>
              </a:spcAft>
            </a:pPr>
            <a:r>
              <a:rPr sz="2000" b="1" i="0">
                <a:solidFill>
                  <a:srgbClr val="0F172A"/>
                </a:solidFill>
                <a:latin typeface="Georgia"/>
              </a:rPr>
              <a:t>Operational &amp; Business Paradigm</a:t>
            </a:r>
          </a:p>
          <a:p>
            <a:pPr>
              <a:spcAft>
                <a:spcPts val="1200"/>
              </a:spcAft>
            </a:pPr>
            <a:r>
              <a:rPr sz="1200" b="1" i="0">
                <a:solidFill>
                  <a:srgbClr val="0F172A"/>
                </a:solidFill>
                <a:latin typeface="Arial"/>
              </a:rPr>
              <a:t>Bridging Data &amp; Operations:</a:t>
            </a:r>
            <a:r>
              <a:rPr sz="1200" b="0" i="0">
                <a:solidFill>
                  <a:srgbClr val="0F172A"/>
                </a:solidFill>
                <a:latin typeface="Arial"/>
              </a:rPr>
              <a:t> Translated complex model training scripts into an interactive, highly operational web application.</a:t>
            </a:r>
          </a:p>
          <a:p>
            <a:pPr>
              <a:spcAft>
                <a:spcPts val="1200"/>
              </a:spcAft>
            </a:pPr>
            <a:r>
              <a:rPr sz="1200" b="1" i="0">
                <a:solidFill>
                  <a:srgbClr val="0F172A"/>
                </a:solidFill>
                <a:latin typeface="Arial"/>
              </a:rPr>
              <a:t>Low-Latency Service:</a:t>
            </a:r>
            <a:r>
              <a:rPr sz="1200" b="0" i="0">
                <a:solidFill>
                  <a:srgbClr val="0F172A"/>
                </a:solidFill>
                <a:latin typeface="Arial"/>
              </a:rPr>
              <a:t> Achieved sub-50ms inference times, supporting quick rebalancing decisions on the fly.</a:t>
            </a:r>
          </a:p>
          <a:p>
            <a:pPr>
              <a:spcAft>
                <a:spcPts val="1200"/>
              </a:spcAft>
            </a:pPr>
            <a:r>
              <a:rPr sz="1200" b="1" i="0">
                <a:solidFill>
                  <a:srgbClr val="0F172A"/>
                </a:solidFill>
                <a:latin typeface="Arial"/>
              </a:rPr>
              <a:t>Strategic Foundation:</a:t>
            </a:r>
            <a:r>
              <a:rPr sz="1200" b="0" i="0">
                <a:solidFill>
                  <a:srgbClr val="0F172A"/>
                </a:solidFill>
                <a:latin typeface="Arial"/>
              </a:rPr>
              <a:t> Created a scalable infrastructure blueprint that can seamlessly transition to direct localized station-level routing predictions.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extBox 1"/>
          <p:cNvSpPr txBox="1"/>
          <p:nvPr/>
        </p:nvSpPr>
        <p:spPr>
          <a:xfrm>
            <a:off x="4154905" y="2627713"/>
            <a:ext cx="10360152" cy="830997"/>
          </a:xfrm>
          <a:prstGeom prst="rect">
            <a:avLst/>
          </a:prstGeom>
          <a:noFill/>
        </p:spPr>
        <p:txBody>
          <a:bodyPr wrap="square">
            <a:spAutoFit/>
          </a:bodyPr>
          <a:lstStyle/>
          <a:p>
            <a:pPr>
              <a:spcAft>
                <a:spcPts val="1400"/>
              </a:spcAft>
            </a:pPr>
            <a:r>
              <a:rPr sz="4800" b="1" i="0" dirty="0">
                <a:solidFill>
                  <a:srgbClr val="F8FAFC"/>
                </a:solidFill>
                <a:latin typeface="Georgia"/>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TotalTime>
  <Words>3083</Words>
  <Application>Microsoft Office PowerPoint</Application>
  <PresentationFormat>Widescreen</PresentationFormat>
  <Paragraphs>342</Paragraphs>
  <Slides>29</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PRISTINE FLUIDS</dc:creator>
  <cp:keywords/>
  <dc:description>generated using python-pptx</dc:description>
  <cp:lastModifiedBy>ECO BLUE</cp:lastModifiedBy>
  <cp:revision>2</cp:revision>
  <dcterms:created xsi:type="dcterms:W3CDTF">2013-01-27T09:14:16Z</dcterms:created>
  <dcterms:modified xsi:type="dcterms:W3CDTF">2026-08-09T18:17:12Z</dcterms:modified>
  <cp:category/>
</cp:coreProperties>
</file>